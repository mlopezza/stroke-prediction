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4" r:id="rId7"/>
    <p:sldId id="261" r:id="rId8"/>
    <p:sldId id="263" r:id="rId9"/>
    <p:sldId id="262" r:id="rId10"/>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4"/>
    <p:restoredTop sz="94105"/>
  </p:normalViewPr>
  <p:slideViewPr>
    <p:cSldViewPr snapToGrid="0">
      <p:cViewPr varScale="1">
        <p:scale>
          <a:sx n="63" d="100"/>
          <a:sy n="63" d="100"/>
        </p:scale>
        <p:origin x="192"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54BDD6-8B54-1D43-9B29-7BFF89FE46CD}" type="datetimeFigureOut">
              <a:rPr lang="x-none" smtClean="0"/>
              <a:t>15/11/25</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BD251-686E-D945-9DF0-64D73D31AD82}" type="slidenum">
              <a:rPr lang="x-none" smtClean="0"/>
              <a:t>‹#›</a:t>
            </a:fld>
            <a:endParaRPr lang="x-none"/>
          </a:p>
        </p:txBody>
      </p:sp>
    </p:spTree>
    <p:extLst>
      <p:ext uri="{BB962C8B-B14F-4D97-AF65-F5344CB8AC3E}">
        <p14:creationId xmlns:p14="http://schemas.microsoft.com/office/powerpoint/2010/main" val="3024315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dirty="0"/>
              <a:t>Lindsay</a:t>
            </a:r>
          </a:p>
        </p:txBody>
      </p:sp>
      <p:sp>
        <p:nvSpPr>
          <p:cNvPr id="4" name="Slide Number Placeholder 3"/>
          <p:cNvSpPr>
            <a:spLocks noGrp="1"/>
          </p:cNvSpPr>
          <p:nvPr>
            <p:ph type="sldNum" sz="quarter" idx="5"/>
          </p:nvPr>
        </p:nvSpPr>
        <p:spPr/>
        <p:txBody>
          <a:bodyPr/>
          <a:lstStyle/>
          <a:p>
            <a:fld id="{CD0BD251-686E-D945-9DF0-64D73D31AD82}" type="slidenum">
              <a:rPr lang="x-none" smtClean="0"/>
              <a:t>2</a:t>
            </a:fld>
            <a:endParaRPr lang="x-none"/>
          </a:p>
        </p:txBody>
      </p:sp>
    </p:spTree>
    <p:extLst>
      <p:ext uri="{BB962C8B-B14F-4D97-AF65-F5344CB8AC3E}">
        <p14:creationId xmlns:p14="http://schemas.microsoft.com/office/powerpoint/2010/main" val="3971019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a:t>Mariluz</a:t>
            </a:r>
            <a:r>
              <a:rPr lang="x-none" dirty="0"/>
              <a:t>: Imbalance, </a:t>
            </a:r>
            <a:r>
              <a:rPr lang="x-none"/>
              <a:t>Confunding factors</a:t>
            </a:r>
            <a:endParaRPr lang="es-419" dirty="0"/>
          </a:p>
          <a:p>
            <a:r>
              <a:rPr lang="en-CO" sz="1200" b="1" kern="1200" dirty="0">
                <a:solidFill>
                  <a:schemeClr val="tx1"/>
                </a:solidFill>
                <a:effectLst/>
                <a:latin typeface="+mn-lt"/>
                <a:ea typeface="+mn-ea"/>
                <a:cs typeface="+mn-cs"/>
              </a:rPr>
              <a:t>Slide 3. </a:t>
            </a:r>
            <a:endParaRPr lang="en-CO" sz="1100" kern="1200" dirty="0">
              <a:solidFill>
                <a:schemeClr val="tx1"/>
              </a:solidFill>
              <a:effectLst/>
              <a:latin typeface="+mn-lt"/>
              <a:ea typeface="+mn-ea"/>
              <a:cs typeface="+mn-cs"/>
            </a:endParaRPr>
          </a:p>
          <a:p>
            <a:pPr lvl="0"/>
            <a:r>
              <a:rPr lang="en-CO" sz="1200" b="1" kern="1200" dirty="0">
                <a:solidFill>
                  <a:schemeClr val="tx1"/>
                </a:solidFill>
                <a:effectLst/>
                <a:latin typeface="+mn-lt"/>
                <a:ea typeface="+mn-ea"/>
                <a:cs typeface="+mn-cs"/>
              </a:rPr>
              <a:t>Imbalance:</a:t>
            </a:r>
            <a:r>
              <a:rPr lang="en-CO" sz="1200" kern="1200" dirty="0">
                <a:solidFill>
                  <a:schemeClr val="tx1"/>
                </a:solidFill>
                <a:effectLst/>
                <a:latin typeface="+mn-lt"/>
                <a:ea typeface="+mn-ea"/>
                <a:cs typeface="+mn-cs"/>
              </a:rPr>
              <a:t> 5,110 observations</a:t>
            </a:r>
          </a:p>
          <a:p>
            <a:pPr lvl="1"/>
            <a:r>
              <a:rPr lang="en-CO" sz="1200" kern="1200" dirty="0">
                <a:solidFill>
                  <a:schemeClr val="tx1"/>
                </a:solidFill>
                <a:effectLst/>
                <a:latin typeface="+mn-lt"/>
                <a:ea typeface="+mn-ea"/>
                <a:cs typeface="+mn-cs"/>
              </a:rPr>
              <a:t>856 individuals under 18 years old</a:t>
            </a:r>
          </a:p>
          <a:p>
            <a:pPr lvl="1"/>
            <a:r>
              <a:rPr lang="en-CO" sz="1200" kern="1200" dirty="0">
                <a:solidFill>
                  <a:schemeClr val="tx1"/>
                </a:solidFill>
                <a:effectLst/>
                <a:latin typeface="+mn-lt"/>
                <a:ea typeface="+mn-ea"/>
                <a:cs typeface="+mn-cs"/>
              </a:rPr>
              <a:t>249 stroke cases (only 2 pediatric)</a:t>
            </a:r>
          </a:p>
          <a:p>
            <a:pPr lvl="1"/>
            <a:r>
              <a:rPr lang="en-CO" sz="1200" kern="1200" dirty="0">
                <a:solidFill>
                  <a:schemeClr val="tx1"/>
                </a:solidFill>
                <a:effectLst/>
                <a:latin typeface="+mn-lt"/>
                <a:ea typeface="+mn-ea"/>
                <a:cs typeface="+mn-cs"/>
              </a:rPr>
              <a:t>4,007 non-stroke cases</a:t>
            </a:r>
          </a:p>
          <a:p>
            <a:pPr lvl="0"/>
            <a:r>
              <a:rPr lang="en-CO" sz="1200" b="1" kern="1200" dirty="0">
                <a:solidFill>
                  <a:schemeClr val="tx1"/>
                </a:solidFill>
                <a:effectLst/>
                <a:latin typeface="+mn-lt"/>
                <a:ea typeface="+mn-ea"/>
                <a:cs typeface="+mn-cs"/>
              </a:rPr>
              <a:t>Confounding factors:</a:t>
            </a:r>
            <a:br>
              <a:rPr lang="en-CO" sz="1200" kern="1200" dirty="0">
                <a:solidFill>
                  <a:schemeClr val="tx1"/>
                </a:solidFill>
                <a:effectLst/>
                <a:latin typeface="+mn-lt"/>
                <a:ea typeface="+mn-ea"/>
                <a:cs typeface="+mn-cs"/>
              </a:rPr>
            </a:br>
            <a:r>
              <a:rPr lang="en-CO" sz="1200" kern="1200" dirty="0">
                <a:solidFill>
                  <a:schemeClr val="tx1"/>
                </a:solidFill>
                <a:effectLst/>
                <a:latin typeface="+mn-lt"/>
                <a:ea typeface="+mn-ea"/>
                <a:cs typeface="+mn-cs"/>
              </a:rPr>
              <a:t>As our goal was to support stroke prevention, we need considered the important differences between adults and pediatric population.</a:t>
            </a:r>
            <a:br>
              <a:rPr lang="en-CO" sz="1200" kern="1200" dirty="0">
                <a:solidFill>
                  <a:schemeClr val="tx1"/>
                </a:solidFill>
                <a:effectLst/>
                <a:latin typeface="+mn-lt"/>
                <a:ea typeface="+mn-ea"/>
                <a:cs typeface="+mn-cs"/>
              </a:rPr>
            </a:br>
            <a:r>
              <a:rPr lang="en-CO" sz="1200" kern="1200" dirty="0">
                <a:solidFill>
                  <a:schemeClr val="tx1"/>
                </a:solidFill>
                <a:effectLst/>
                <a:latin typeface="+mn-lt"/>
                <a:ea typeface="+mn-ea"/>
                <a:cs typeface="+mn-cs"/>
              </a:rPr>
              <a:t>Because the causes of stroke in children are mostly related to genetic factors and non-preventable conditions—and because the incidence is very low—the pediatric population was removed from the analysis and the model. This helped reduce confounding factors associated with their differences compared to adults AND INCREASED THE ACCURACY OF THE MODEL.</a:t>
            </a:r>
          </a:p>
          <a:p>
            <a:endParaRPr lang="es-419" dirty="0"/>
          </a:p>
          <a:p>
            <a:pPr marL="0" marR="0" lvl="0" indent="0" algn="l" defTabSz="914400" rtl="0" eaLnBrk="1" fontAlgn="auto" latinLnBrk="0" hangingPunct="1">
              <a:lnSpc>
                <a:spcPct val="100000"/>
              </a:lnSpc>
              <a:spcBef>
                <a:spcPts val="0"/>
              </a:spcBef>
              <a:spcAft>
                <a:spcPts val="0"/>
              </a:spcAft>
              <a:buClrTx/>
              <a:buSzTx/>
              <a:buFontTx/>
              <a:buNone/>
              <a:tabLst/>
              <a:defRPr/>
            </a:pPr>
            <a:r>
              <a:rPr lang="x-none"/>
              <a:t>Linday: Lack of context, missing data, variability</a:t>
            </a:r>
          </a:p>
        </p:txBody>
      </p:sp>
      <p:sp>
        <p:nvSpPr>
          <p:cNvPr id="4" name="Slide Number Placeholder 3"/>
          <p:cNvSpPr>
            <a:spLocks noGrp="1"/>
          </p:cNvSpPr>
          <p:nvPr>
            <p:ph type="sldNum" sz="quarter" idx="5"/>
          </p:nvPr>
        </p:nvSpPr>
        <p:spPr/>
        <p:txBody>
          <a:bodyPr/>
          <a:lstStyle/>
          <a:p>
            <a:fld id="{CD0BD251-686E-D945-9DF0-64D73D31AD82}" type="slidenum">
              <a:rPr lang="x-none" smtClean="0"/>
              <a:t>3</a:t>
            </a:fld>
            <a:endParaRPr lang="x-none"/>
          </a:p>
        </p:txBody>
      </p:sp>
    </p:spTree>
    <p:extLst>
      <p:ext uri="{BB962C8B-B14F-4D97-AF65-F5344CB8AC3E}">
        <p14:creationId xmlns:p14="http://schemas.microsoft.com/office/powerpoint/2010/main" val="2736665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a:t>Marilu</a:t>
            </a:r>
            <a:r>
              <a:rPr lang="es-419" dirty="0"/>
              <a:t>z</a:t>
            </a:r>
            <a:br>
              <a:rPr lang="es-419" dirty="0"/>
            </a:br>
            <a:r>
              <a:rPr lang="en-CO" sz="1200" b="1" kern="1200" dirty="0">
                <a:solidFill>
                  <a:schemeClr val="tx1"/>
                </a:solidFill>
                <a:effectLst/>
                <a:latin typeface="+mn-lt"/>
                <a:ea typeface="+mn-ea"/>
                <a:cs typeface="+mn-cs"/>
              </a:rPr>
              <a:t>Slide 4. </a:t>
            </a:r>
            <a:endParaRPr lang="en-CO" sz="11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After a statistical analysis comparing the stroke group with the non-stroke group:</a:t>
            </a:r>
          </a:p>
          <a:p>
            <a:pPr lvl="1"/>
            <a:r>
              <a:rPr lang="en-CO" sz="1200" kern="1200" dirty="0">
                <a:solidFill>
                  <a:schemeClr val="tx1"/>
                </a:solidFill>
                <a:effectLst/>
                <a:latin typeface="+mn-lt"/>
                <a:ea typeface="+mn-ea"/>
                <a:cs typeface="+mn-cs"/>
              </a:rPr>
              <a:t>We removed </a:t>
            </a:r>
            <a:r>
              <a:rPr lang="en-CO" sz="1200" b="1" kern="1200" dirty="0">
                <a:solidFill>
                  <a:schemeClr val="tx1"/>
                </a:solidFill>
                <a:effectLst/>
                <a:latin typeface="+mn-lt"/>
                <a:ea typeface="+mn-ea"/>
                <a:cs typeface="+mn-cs"/>
              </a:rPr>
              <a:t>gender</a:t>
            </a:r>
            <a:r>
              <a:rPr lang="en-CO" sz="1200" kern="1200" dirty="0">
                <a:solidFill>
                  <a:schemeClr val="tx1"/>
                </a:solidFill>
                <a:effectLst/>
                <a:latin typeface="+mn-lt"/>
                <a:ea typeface="+mn-ea"/>
                <a:cs typeface="+mn-cs"/>
              </a:rPr>
              <a:t> and </a:t>
            </a:r>
            <a:r>
              <a:rPr lang="en-CO" sz="1200" b="1" kern="1200" dirty="0">
                <a:solidFill>
                  <a:schemeClr val="tx1"/>
                </a:solidFill>
                <a:effectLst/>
                <a:latin typeface="+mn-lt"/>
                <a:ea typeface="+mn-ea"/>
                <a:cs typeface="+mn-cs"/>
              </a:rPr>
              <a:t>residence type</a:t>
            </a:r>
            <a:r>
              <a:rPr lang="en-CO" sz="1200" kern="1200" dirty="0">
                <a:solidFill>
                  <a:schemeClr val="tx1"/>
                </a:solidFill>
                <a:effectLst/>
                <a:latin typeface="+mn-lt"/>
                <a:ea typeface="+mn-ea"/>
                <a:cs typeface="+mn-cs"/>
              </a:rPr>
              <a:t> due to non-significant differences.</a:t>
            </a:r>
          </a:p>
          <a:p>
            <a:pPr lvl="1"/>
            <a:r>
              <a:rPr lang="en-CO" sz="1200" kern="1200" dirty="0">
                <a:solidFill>
                  <a:schemeClr val="tx1"/>
                </a:solidFill>
                <a:effectLst/>
                <a:latin typeface="+mn-lt"/>
                <a:ea typeface="+mn-ea"/>
                <a:cs typeface="+mn-cs"/>
              </a:rPr>
              <a:t>Initially, the analysis showed that  </a:t>
            </a:r>
            <a:r>
              <a:rPr lang="en-CO" sz="1200" b="1" kern="1200" dirty="0">
                <a:solidFill>
                  <a:schemeClr val="tx1"/>
                </a:solidFill>
                <a:effectLst/>
                <a:latin typeface="+mn-lt"/>
                <a:ea typeface="+mn-ea"/>
                <a:cs typeface="+mn-cs"/>
              </a:rPr>
              <a:t>ever merred was correlated with stroke</a:t>
            </a:r>
            <a:r>
              <a:rPr lang="en-CO" sz="1200" kern="1200" dirty="0">
                <a:solidFill>
                  <a:schemeClr val="tx1"/>
                </a:solidFill>
                <a:effectLst/>
                <a:latin typeface="+mn-lt"/>
                <a:ea typeface="+mn-ea"/>
                <a:cs typeface="+mn-cs"/>
              </a:rPr>
              <a:t>, but after adjusting for age, this difference was no longer significant.</a:t>
            </a:r>
          </a:p>
          <a:p>
            <a:pPr lvl="0"/>
            <a:r>
              <a:rPr lang="en-CO" sz="1200" kern="1200" dirty="0">
                <a:solidFill>
                  <a:schemeClr val="tx1"/>
                </a:solidFill>
                <a:effectLst/>
                <a:latin typeface="+mn-lt"/>
                <a:ea typeface="+mn-ea"/>
                <a:cs typeface="+mn-cs"/>
              </a:rPr>
              <a:t>We included only the features that showed statistically significant differences to improve the accuracy of the predictive model:</a:t>
            </a:r>
          </a:p>
          <a:p>
            <a:pPr lvl="1"/>
            <a:r>
              <a:rPr lang="en-CO" sz="1200" b="1" kern="1200" dirty="0">
                <a:solidFill>
                  <a:schemeClr val="tx1"/>
                </a:solidFill>
                <a:effectLst/>
                <a:latin typeface="+mn-lt"/>
                <a:ea typeface="+mn-ea"/>
                <a:cs typeface="+mn-cs"/>
              </a:rPr>
              <a:t>Invariable demographic factors:</a:t>
            </a:r>
            <a:r>
              <a:rPr lang="en-CO" sz="1200" kern="1200" dirty="0">
                <a:solidFill>
                  <a:schemeClr val="tx1"/>
                </a:solidFill>
                <a:effectLst/>
                <a:latin typeface="+mn-lt"/>
                <a:ea typeface="+mn-ea"/>
                <a:cs typeface="+mn-cs"/>
              </a:rPr>
              <a:t> Age</a:t>
            </a:r>
          </a:p>
          <a:p>
            <a:pPr lvl="1"/>
            <a:r>
              <a:rPr lang="en-CO" sz="1200" b="1" kern="1200" dirty="0">
                <a:solidFill>
                  <a:schemeClr val="tx1"/>
                </a:solidFill>
                <a:effectLst/>
                <a:latin typeface="+mn-lt"/>
                <a:ea typeface="+mn-ea"/>
                <a:cs typeface="+mn-cs"/>
              </a:rPr>
              <a:t>Potentially variable demographic factors:</a:t>
            </a:r>
            <a:r>
              <a:rPr lang="en-CO" sz="1200" kern="1200" dirty="0">
                <a:solidFill>
                  <a:schemeClr val="tx1"/>
                </a:solidFill>
                <a:effectLst/>
                <a:latin typeface="+mn-lt"/>
                <a:ea typeface="+mn-ea"/>
                <a:cs typeface="+mn-cs"/>
              </a:rPr>
              <a:t> Work Type</a:t>
            </a:r>
          </a:p>
          <a:p>
            <a:pPr lvl="1"/>
            <a:r>
              <a:rPr lang="en-CO" sz="1200" b="1" kern="1200" dirty="0">
                <a:solidFill>
                  <a:schemeClr val="tx1"/>
                </a:solidFill>
                <a:effectLst/>
                <a:latin typeface="+mn-lt"/>
                <a:ea typeface="+mn-ea"/>
                <a:cs typeface="+mn-cs"/>
              </a:rPr>
              <a:t>Variable risk factors:</a:t>
            </a:r>
            <a:r>
              <a:rPr lang="en-CO" sz="1200" kern="1200" dirty="0">
                <a:solidFill>
                  <a:schemeClr val="tx1"/>
                </a:solidFill>
                <a:effectLst/>
                <a:latin typeface="+mn-lt"/>
                <a:ea typeface="+mn-ea"/>
                <a:cs typeface="+mn-cs"/>
              </a:rPr>
              <a:t> Glucose level, BMI, Smoking status</a:t>
            </a:r>
          </a:p>
          <a:p>
            <a:pPr lvl="1"/>
            <a:r>
              <a:rPr lang="en-CO" sz="1200" b="1" kern="1200" dirty="0">
                <a:solidFill>
                  <a:schemeClr val="tx1"/>
                </a:solidFill>
                <a:effectLst/>
                <a:latin typeface="+mn-lt"/>
                <a:ea typeface="+mn-ea"/>
                <a:cs typeface="+mn-cs"/>
              </a:rPr>
              <a:t>Invariable risk factors (comorbidities):</a:t>
            </a:r>
            <a:r>
              <a:rPr lang="en-CO" sz="1200" kern="1200" dirty="0">
                <a:solidFill>
                  <a:schemeClr val="tx1"/>
                </a:solidFill>
                <a:effectLst/>
                <a:latin typeface="+mn-lt"/>
                <a:ea typeface="+mn-ea"/>
                <a:cs typeface="+mn-cs"/>
              </a:rPr>
              <a:t> Hypertension and Heart Disease</a:t>
            </a:r>
          </a:p>
          <a:p>
            <a:endParaRPr lang="x-none" dirty="0"/>
          </a:p>
        </p:txBody>
      </p:sp>
      <p:sp>
        <p:nvSpPr>
          <p:cNvPr id="4" name="Slide Number Placeholder 3"/>
          <p:cNvSpPr>
            <a:spLocks noGrp="1"/>
          </p:cNvSpPr>
          <p:nvPr>
            <p:ph type="sldNum" sz="quarter" idx="5"/>
          </p:nvPr>
        </p:nvSpPr>
        <p:spPr/>
        <p:txBody>
          <a:bodyPr/>
          <a:lstStyle/>
          <a:p>
            <a:fld id="{CD0BD251-686E-D945-9DF0-64D73D31AD82}" type="slidenum">
              <a:rPr lang="x-none" smtClean="0"/>
              <a:t>4</a:t>
            </a:fld>
            <a:endParaRPr lang="x-none"/>
          </a:p>
        </p:txBody>
      </p:sp>
    </p:spTree>
    <p:extLst>
      <p:ext uri="{BB962C8B-B14F-4D97-AF65-F5344CB8AC3E}">
        <p14:creationId xmlns:p14="http://schemas.microsoft.com/office/powerpoint/2010/main" val="657008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Lindsay</a:t>
            </a:r>
            <a:endParaRPr lang="x-none" dirty="0"/>
          </a:p>
        </p:txBody>
      </p:sp>
      <p:sp>
        <p:nvSpPr>
          <p:cNvPr id="4" name="Slide Number Placeholder 3"/>
          <p:cNvSpPr>
            <a:spLocks noGrp="1"/>
          </p:cNvSpPr>
          <p:nvPr>
            <p:ph type="sldNum" sz="quarter" idx="5"/>
          </p:nvPr>
        </p:nvSpPr>
        <p:spPr/>
        <p:txBody>
          <a:bodyPr/>
          <a:lstStyle/>
          <a:p>
            <a:fld id="{CD0BD251-686E-D945-9DF0-64D73D31AD82}" type="slidenum">
              <a:rPr lang="x-none" smtClean="0"/>
              <a:t>5</a:t>
            </a:fld>
            <a:endParaRPr lang="x-none"/>
          </a:p>
        </p:txBody>
      </p:sp>
    </p:spTree>
    <p:extLst>
      <p:ext uri="{BB962C8B-B14F-4D97-AF65-F5344CB8AC3E}">
        <p14:creationId xmlns:p14="http://schemas.microsoft.com/office/powerpoint/2010/main" val="176404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a:t>Mariluz</a:t>
            </a:r>
            <a:r>
              <a:rPr lang="en-CO" sz="1200" b="1" kern="1200" dirty="0">
                <a:solidFill>
                  <a:schemeClr val="tx1"/>
                </a:solidFill>
                <a:effectLst/>
                <a:latin typeface="+mn-lt"/>
                <a:ea typeface="+mn-ea"/>
                <a:cs typeface="+mn-cs"/>
              </a:rPr>
              <a:t>Slide 6. </a:t>
            </a:r>
            <a:endParaRPr lang="en-CO" sz="1200" kern="1200" dirty="0">
              <a:solidFill>
                <a:schemeClr val="tx1"/>
              </a:solidFill>
              <a:effectLst/>
              <a:latin typeface="+mn-lt"/>
              <a:ea typeface="+mn-ea"/>
              <a:cs typeface="+mn-cs"/>
            </a:endParaRPr>
          </a:p>
          <a:p>
            <a:r>
              <a:rPr lang="en-CO" sz="1200" b="1" kern="1200" dirty="0">
                <a:solidFill>
                  <a:schemeClr val="tx1"/>
                </a:solidFill>
                <a:effectLst/>
                <a:latin typeface="+mn-lt"/>
                <a:ea typeface="+mn-ea"/>
                <a:cs typeface="+mn-cs"/>
              </a:rPr>
              <a:t>The population most likely to have a stroke :</a:t>
            </a:r>
            <a:endParaRPr lang="en-CO" sz="12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 Individuals </a:t>
            </a:r>
            <a:r>
              <a:rPr lang="en-CO" sz="1200" b="1" kern="1200" dirty="0">
                <a:solidFill>
                  <a:schemeClr val="tx1"/>
                </a:solidFill>
                <a:effectLst/>
                <a:latin typeface="+mn-lt"/>
                <a:ea typeface="+mn-ea"/>
                <a:cs typeface="+mn-cs"/>
              </a:rPr>
              <a:t>over 57 years old</a:t>
            </a:r>
            <a:endParaRPr lang="en-CO" sz="12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 comorbidities such as </a:t>
            </a:r>
            <a:r>
              <a:rPr lang="en-CO" sz="1200" b="1" kern="1200" dirty="0">
                <a:solidFill>
                  <a:schemeClr val="tx1"/>
                </a:solidFill>
                <a:effectLst/>
                <a:latin typeface="+mn-lt"/>
                <a:ea typeface="+mn-ea"/>
                <a:cs typeface="+mn-cs"/>
              </a:rPr>
              <a:t>heart disease</a:t>
            </a:r>
            <a:r>
              <a:rPr lang="en-CO" sz="1200" kern="1200" dirty="0">
                <a:solidFill>
                  <a:schemeClr val="tx1"/>
                </a:solidFill>
                <a:effectLst/>
                <a:latin typeface="+mn-lt"/>
                <a:ea typeface="+mn-ea"/>
                <a:cs typeface="+mn-cs"/>
              </a:rPr>
              <a:t> or </a:t>
            </a:r>
            <a:r>
              <a:rPr lang="en-CO" sz="1200" b="1" kern="1200" dirty="0">
                <a:solidFill>
                  <a:schemeClr val="tx1"/>
                </a:solidFill>
                <a:effectLst/>
                <a:latin typeface="+mn-lt"/>
                <a:ea typeface="+mn-ea"/>
                <a:cs typeface="+mn-cs"/>
              </a:rPr>
              <a:t>hypertension</a:t>
            </a:r>
            <a:endParaRPr lang="en-CO" sz="12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 </a:t>
            </a:r>
            <a:r>
              <a:rPr lang="en-CO" sz="1200" b="1" kern="1200" dirty="0">
                <a:solidFill>
                  <a:schemeClr val="tx1"/>
                </a:solidFill>
                <a:effectLst/>
                <a:latin typeface="+mn-lt"/>
                <a:ea typeface="+mn-ea"/>
                <a:cs typeface="+mn-cs"/>
              </a:rPr>
              <a:t>glucose levels in the pre-diabetes or diabetes range</a:t>
            </a:r>
            <a:endParaRPr lang="en-CO" sz="12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 risk factors such as </a:t>
            </a:r>
            <a:r>
              <a:rPr lang="en-CO" sz="1200" b="1" kern="1200" dirty="0">
                <a:solidFill>
                  <a:schemeClr val="tx1"/>
                </a:solidFill>
                <a:effectLst/>
                <a:latin typeface="+mn-lt"/>
                <a:ea typeface="+mn-ea"/>
                <a:cs typeface="+mn-cs"/>
              </a:rPr>
              <a:t>overweight</a:t>
            </a:r>
            <a:r>
              <a:rPr lang="en-CO" sz="1200" kern="1200" dirty="0">
                <a:solidFill>
                  <a:schemeClr val="tx1"/>
                </a:solidFill>
                <a:effectLst/>
                <a:latin typeface="+mn-lt"/>
                <a:ea typeface="+mn-ea"/>
                <a:cs typeface="+mn-cs"/>
              </a:rPr>
              <a:t>, </a:t>
            </a:r>
            <a:r>
              <a:rPr lang="en-CO" sz="1200" b="1" kern="1200" dirty="0">
                <a:solidFill>
                  <a:schemeClr val="tx1"/>
                </a:solidFill>
                <a:effectLst/>
                <a:latin typeface="+mn-lt"/>
                <a:ea typeface="+mn-ea"/>
                <a:cs typeface="+mn-cs"/>
              </a:rPr>
              <a:t>former smoking</a:t>
            </a:r>
            <a:r>
              <a:rPr lang="en-CO" sz="1200" kern="1200" dirty="0">
                <a:solidFill>
                  <a:schemeClr val="tx1"/>
                </a:solidFill>
                <a:effectLst/>
                <a:latin typeface="+mn-lt"/>
                <a:ea typeface="+mn-ea"/>
                <a:cs typeface="+mn-cs"/>
              </a:rPr>
              <a:t>, or </a:t>
            </a:r>
            <a:r>
              <a:rPr lang="en-CO" sz="1200" b="1" kern="1200" dirty="0">
                <a:solidFill>
                  <a:schemeClr val="tx1"/>
                </a:solidFill>
                <a:effectLst/>
                <a:latin typeface="+mn-lt"/>
                <a:ea typeface="+mn-ea"/>
                <a:cs typeface="+mn-cs"/>
              </a:rPr>
              <a:t>current smoking</a:t>
            </a:r>
            <a:endParaRPr lang="en-CO" sz="1200" kern="1200" dirty="0">
              <a:solidFill>
                <a:schemeClr val="tx1"/>
              </a:solidFill>
              <a:effectLst/>
              <a:latin typeface="+mn-lt"/>
              <a:ea typeface="+mn-ea"/>
              <a:cs typeface="+mn-cs"/>
            </a:endParaRPr>
          </a:p>
          <a:p>
            <a:endParaRPr lang="en-CO" sz="1200" b="1" kern="1200" dirty="0">
              <a:solidFill>
                <a:schemeClr val="tx1"/>
              </a:solidFill>
              <a:effectLst/>
              <a:latin typeface="+mn-lt"/>
              <a:ea typeface="+mn-ea"/>
              <a:cs typeface="+mn-cs"/>
            </a:endParaRPr>
          </a:p>
          <a:p>
            <a:r>
              <a:rPr lang="en-CO" sz="1200" b="1" kern="1200" dirty="0">
                <a:solidFill>
                  <a:schemeClr val="tx1"/>
                </a:solidFill>
                <a:effectLst/>
                <a:latin typeface="+mn-lt"/>
                <a:ea typeface="+mn-ea"/>
                <a:cs typeface="+mn-cs"/>
              </a:rPr>
              <a:t>Protective factors:</a:t>
            </a:r>
            <a:endParaRPr lang="en-CO" sz="12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Healthy weight</a:t>
            </a:r>
          </a:p>
          <a:p>
            <a:pPr lvl="0"/>
            <a:r>
              <a:rPr lang="en-CO" sz="1200" kern="1200" dirty="0">
                <a:solidFill>
                  <a:schemeClr val="tx1"/>
                </a:solidFill>
                <a:effectLst/>
                <a:latin typeface="+mn-lt"/>
                <a:ea typeface="+mn-ea"/>
                <a:cs typeface="+mn-cs"/>
              </a:rPr>
              <a:t>Healthy average glucose levels</a:t>
            </a:r>
          </a:p>
          <a:p>
            <a:pPr lvl="0"/>
            <a:r>
              <a:rPr lang="en-CO" sz="1200" kern="1200" dirty="0">
                <a:solidFill>
                  <a:schemeClr val="tx1"/>
                </a:solidFill>
                <a:effectLst/>
                <a:latin typeface="+mn-lt"/>
                <a:ea typeface="+mn-ea"/>
                <a:cs typeface="+mn-cs"/>
              </a:rPr>
              <a:t>Never smoked</a:t>
            </a:r>
          </a:p>
          <a:p>
            <a:pPr lvl="0"/>
            <a:endParaRPr lang="en-CO" sz="12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OUR RECOMENDATION IS START </a:t>
            </a:r>
            <a:r>
              <a:rPr lang="en-CO" sz="1200" b="1" kern="1200" dirty="0">
                <a:solidFill>
                  <a:schemeClr val="tx1"/>
                </a:solidFill>
                <a:effectLst/>
                <a:latin typeface="+mn-lt"/>
                <a:ea typeface="+mn-ea"/>
                <a:cs typeface="+mn-cs"/>
              </a:rPr>
              <a:t>preventive campaigns BEFORE 57 YEARS OLD WITH TARGET IN THIS VARIABLES TO HAVE A REAL IMPACT IN STROKE INCIDENCE.</a:t>
            </a:r>
            <a:endParaRPr lang="en-CO" sz="1200" kern="1200" dirty="0">
              <a:solidFill>
                <a:schemeClr val="tx1"/>
              </a:solidFill>
              <a:effectLst/>
              <a:latin typeface="+mn-lt"/>
              <a:ea typeface="+mn-ea"/>
              <a:cs typeface="+mn-cs"/>
            </a:endParaRPr>
          </a:p>
          <a:p>
            <a:endParaRPr lang="x-none" dirty="0"/>
          </a:p>
        </p:txBody>
      </p:sp>
      <p:sp>
        <p:nvSpPr>
          <p:cNvPr id="4" name="Slide Number Placeholder 3"/>
          <p:cNvSpPr>
            <a:spLocks noGrp="1"/>
          </p:cNvSpPr>
          <p:nvPr>
            <p:ph type="sldNum" sz="quarter" idx="5"/>
          </p:nvPr>
        </p:nvSpPr>
        <p:spPr/>
        <p:txBody>
          <a:bodyPr/>
          <a:lstStyle/>
          <a:p>
            <a:fld id="{CD0BD251-686E-D945-9DF0-64D73D31AD82}" type="slidenum">
              <a:rPr lang="x-none" smtClean="0"/>
              <a:t>6</a:t>
            </a:fld>
            <a:endParaRPr lang="x-none"/>
          </a:p>
        </p:txBody>
      </p:sp>
    </p:spTree>
    <p:extLst>
      <p:ext uri="{BB962C8B-B14F-4D97-AF65-F5344CB8AC3E}">
        <p14:creationId xmlns:p14="http://schemas.microsoft.com/office/powerpoint/2010/main" val="4200480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a:t>Mariluz</a:t>
            </a:r>
            <a:br>
              <a:rPr lang="es-419" dirty="0"/>
            </a:br>
            <a:r>
              <a:rPr lang="en-CO" sz="1200" b="1" kern="1200" dirty="0">
                <a:solidFill>
                  <a:schemeClr val="tx1"/>
                </a:solidFill>
                <a:effectLst/>
                <a:latin typeface="+mn-lt"/>
                <a:ea typeface="+mn-ea"/>
                <a:cs typeface="+mn-cs"/>
              </a:rPr>
              <a:t>Slide 7. </a:t>
            </a:r>
            <a:endParaRPr lang="en-CO" sz="1200" kern="1200" dirty="0">
              <a:solidFill>
                <a:schemeClr val="tx1"/>
              </a:solidFill>
              <a:effectLst/>
              <a:latin typeface="+mn-lt"/>
              <a:ea typeface="+mn-ea"/>
              <a:cs typeface="+mn-cs"/>
            </a:endParaRPr>
          </a:p>
          <a:p>
            <a:pPr lvl="0"/>
            <a:r>
              <a:rPr lang="en-CO" sz="1200" kern="1200" dirty="0">
                <a:solidFill>
                  <a:schemeClr val="tx1"/>
                </a:solidFill>
                <a:effectLst/>
                <a:latin typeface="+mn-lt"/>
                <a:ea typeface="+mn-ea"/>
                <a:cs typeface="+mn-cs"/>
              </a:rPr>
              <a:t>Proper categorization of the dataset is essential.</a:t>
            </a:r>
          </a:p>
          <a:p>
            <a:pPr lvl="0"/>
            <a:r>
              <a:rPr lang="en-CO" sz="1200" kern="1200" dirty="0">
                <a:solidFill>
                  <a:schemeClr val="tx1"/>
                </a:solidFill>
                <a:effectLst/>
                <a:latin typeface="+mn-lt"/>
                <a:ea typeface="+mn-ea"/>
                <a:cs typeface="+mn-cs"/>
              </a:rPr>
              <a:t>Comparing groups properly </a:t>
            </a:r>
            <a:r>
              <a:rPr lang="en-CO" sz="1200" b="1" kern="1200" dirty="0">
                <a:solidFill>
                  <a:schemeClr val="tx1"/>
                </a:solidFill>
                <a:effectLst/>
                <a:latin typeface="+mn-lt"/>
                <a:ea typeface="+mn-ea"/>
                <a:cs typeface="+mn-cs"/>
              </a:rPr>
              <a:t>matters</a:t>
            </a:r>
            <a:r>
              <a:rPr lang="en-CO" sz="1200" kern="1200" dirty="0">
                <a:solidFill>
                  <a:schemeClr val="tx1"/>
                </a:solidFill>
                <a:effectLst/>
                <a:latin typeface="+mn-lt"/>
                <a:ea typeface="+mn-ea"/>
                <a:cs typeface="+mn-cs"/>
              </a:rPr>
              <a:t>. Both: healthy and sick individuals are needed for an adequate comparison and analyst.</a:t>
            </a:r>
          </a:p>
          <a:p>
            <a:pPr lvl="0"/>
            <a:r>
              <a:rPr lang="en-CO" sz="1200" b="1" kern="1200" dirty="0">
                <a:solidFill>
                  <a:schemeClr val="tx1"/>
                </a:solidFill>
                <a:effectLst/>
                <a:latin typeface="+mn-lt"/>
                <a:ea typeface="+mn-ea"/>
                <a:cs typeface="+mn-cs"/>
              </a:rPr>
              <a:t>Correlation is not causation.</a:t>
            </a:r>
            <a:endParaRPr lang="en-CO"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WE SHOW IN M</a:t>
            </a:r>
            <a:r>
              <a:rPr lang="en-CO" sz="1200" kern="1200" dirty="0">
                <a:solidFill>
                  <a:schemeClr val="tx1"/>
                </a:solidFill>
                <a:effectLst/>
                <a:latin typeface="+mn-lt"/>
                <a:ea typeface="+mn-ea"/>
                <a:cs typeface="+mn-cs"/>
              </a:rPr>
              <a:t>arried status AFTER adjusted per age.</a:t>
            </a:r>
          </a:p>
          <a:p>
            <a:endParaRPr lang="x-none" dirty="0"/>
          </a:p>
        </p:txBody>
      </p:sp>
      <p:sp>
        <p:nvSpPr>
          <p:cNvPr id="4" name="Slide Number Placeholder 3"/>
          <p:cNvSpPr>
            <a:spLocks noGrp="1"/>
          </p:cNvSpPr>
          <p:nvPr>
            <p:ph type="sldNum" sz="quarter" idx="5"/>
          </p:nvPr>
        </p:nvSpPr>
        <p:spPr/>
        <p:txBody>
          <a:bodyPr/>
          <a:lstStyle/>
          <a:p>
            <a:fld id="{CD0BD251-686E-D945-9DF0-64D73D31AD82}" type="slidenum">
              <a:rPr lang="x-none" smtClean="0"/>
              <a:t>7</a:t>
            </a:fld>
            <a:endParaRPr lang="x-none"/>
          </a:p>
        </p:txBody>
      </p:sp>
    </p:spTree>
    <p:extLst>
      <p:ext uri="{BB962C8B-B14F-4D97-AF65-F5344CB8AC3E}">
        <p14:creationId xmlns:p14="http://schemas.microsoft.com/office/powerpoint/2010/main" val="3652731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a:t>Lin</a:t>
            </a:r>
            <a:r>
              <a:rPr lang="es-419" dirty="0"/>
              <a:t>d</a:t>
            </a:r>
            <a:r>
              <a:rPr lang="x-none"/>
              <a:t>say</a:t>
            </a:r>
            <a:endParaRPr lang="x-none" dirty="0"/>
          </a:p>
        </p:txBody>
      </p:sp>
      <p:sp>
        <p:nvSpPr>
          <p:cNvPr id="4" name="Slide Number Placeholder 3"/>
          <p:cNvSpPr>
            <a:spLocks noGrp="1"/>
          </p:cNvSpPr>
          <p:nvPr>
            <p:ph type="sldNum" sz="quarter" idx="5"/>
          </p:nvPr>
        </p:nvSpPr>
        <p:spPr/>
        <p:txBody>
          <a:bodyPr/>
          <a:lstStyle/>
          <a:p>
            <a:fld id="{CD0BD251-686E-D945-9DF0-64D73D31AD82}" type="slidenum">
              <a:rPr lang="x-none" smtClean="0"/>
              <a:t>8</a:t>
            </a:fld>
            <a:endParaRPr lang="x-none"/>
          </a:p>
        </p:txBody>
      </p:sp>
    </p:spTree>
    <p:extLst>
      <p:ext uri="{BB962C8B-B14F-4D97-AF65-F5344CB8AC3E}">
        <p14:creationId xmlns:p14="http://schemas.microsoft.com/office/powerpoint/2010/main" val="1785995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7C55F-18F6-0D8C-9B96-974DF0900C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F683A04F-53EF-718F-0894-C7D69F7D53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953AD7D7-7A86-8317-0130-53E4263D51E6}"/>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5" name="Footer Placeholder 4">
            <a:extLst>
              <a:ext uri="{FF2B5EF4-FFF2-40B4-BE49-F238E27FC236}">
                <a16:creationId xmlns:a16="http://schemas.microsoft.com/office/drawing/2014/main" id="{D91E9C0C-EBEF-A5BB-8130-E17D8B9C87D2}"/>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EDB2D072-E314-D2BB-42EA-C92DD1D6E757}"/>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3976358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30660-CF1D-0D9B-5725-C3F1B135F82D}"/>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934AD47A-B9C6-355D-AD7E-E73CAD37D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54B68AFD-A4BC-CDB1-CD00-37824502AB42}"/>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5" name="Footer Placeholder 4">
            <a:extLst>
              <a:ext uri="{FF2B5EF4-FFF2-40B4-BE49-F238E27FC236}">
                <a16:creationId xmlns:a16="http://schemas.microsoft.com/office/drawing/2014/main" id="{98C53A31-6AF3-3D26-CC83-1D52D39EAE3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009CA83-E23E-E58D-CB46-63425C127982}"/>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2933542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96E42-1440-7F93-8A99-AA253FE551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98FB190F-1CFA-2496-17AE-57A19A61D2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13E4F9-D136-A0F4-5B88-6339A3D0E9CE}"/>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5" name="Footer Placeholder 4">
            <a:extLst>
              <a:ext uri="{FF2B5EF4-FFF2-40B4-BE49-F238E27FC236}">
                <a16:creationId xmlns:a16="http://schemas.microsoft.com/office/drawing/2014/main" id="{08A00E1E-FCE4-7E48-1994-691A71B182D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BEC6DC32-4E0D-4F14-0FA0-65E48C7C646B}"/>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3804452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CE43-8E64-9CE4-2FA6-B8D918A5B0B1}"/>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00528D6D-0DB7-17F7-526D-C5318F20BC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4FBDBD4-91F1-4367-A277-194B47BF0C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E6364F8F-B745-9F10-FF0D-F39C56FC8DD8}"/>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6" name="Footer Placeholder 5">
            <a:extLst>
              <a:ext uri="{FF2B5EF4-FFF2-40B4-BE49-F238E27FC236}">
                <a16:creationId xmlns:a16="http://schemas.microsoft.com/office/drawing/2014/main" id="{9A9F9938-5C22-E7AE-08ED-12D195F7A32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D4C93461-7F4B-9521-2CEF-F38E7454CE0F}"/>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2757741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C30EA-9E7E-AB19-3556-EB00CAACD225}"/>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6983FBC6-47E4-FA35-BCE1-F7348C1B85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6B5959-BC88-DAC5-27EF-30F2C1D2EA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DE2792FF-5536-671C-9486-1C9D6F13FA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7FAA89-B348-8A6D-3DE8-368C62662F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031C224E-BD3E-50A2-2313-F1478555AD7A}"/>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8" name="Footer Placeholder 7">
            <a:extLst>
              <a:ext uri="{FF2B5EF4-FFF2-40B4-BE49-F238E27FC236}">
                <a16:creationId xmlns:a16="http://schemas.microsoft.com/office/drawing/2014/main" id="{14CCDC00-1E8A-4F02-090C-F4BAC37E8901}"/>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DF500F59-E377-8A72-2136-48715A2FF6C5}"/>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1767684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FFC-6BFB-440A-E98C-D0BF7EF796B6}"/>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819172BF-7CCE-D1A9-815F-534B906538BA}"/>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4" name="Footer Placeholder 3">
            <a:extLst>
              <a:ext uri="{FF2B5EF4-FFF2-40B4-BE49-F238E27FC236}">
                <a16:creationId xmlns:a16="http://schemas.microsoft.com/office/drawing/2014/main" id="{7C4DD507-E8BC-1351-9F4F-9B693FC03169}"/>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C842F7BE-D910-8F20-45E9-261B1D779D5E}"/>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3436555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CB8DCF-D7AF-D431-CBC9-2A599872E1CD}"/>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3" name="Footer Placeholder 2">
            <a:extLst>
              <a:ext uri="{FF2B5EF4-FFF2-40B4-BE49-F238E27FC236}">
                <a16:creationId xmlns:a16="http://schemas.microsoft.com/office/drawing/2014/main" id="{FFBEB863-C00B-EF4D-27CB-0C7BD1DDEF79}"/>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F83DFB56-D11C-68CB-98D1-105109F6023E}"/>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3257923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54DA-D8DA-55C6-C39E-8E0E34110C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92674817-5D20-8181-B56D-42FFC302CD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FFA52CF3-A3D5-0E9A-8E83-E54E79A182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82CD-76A3-5AEF-F290-0F254ED9083D}"/>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6" name="Footer Placeholder 5">
            <a:extLst>
              <a:ext uri="{FF2B5EF4-FFF2-40B4-BE49-F238E27FC236}">
                <a16:creationId xmlns:a16="http://schemas.microsoft.com/office/drawing/2014/main" id="{EE3D3A6F-5194-0468-78A6-1EF5A83568C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D7B3D664-A377-DDD5-48B5-A6C9BC629807}"/>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312582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B23D-3E1D-219A-30BD-6CF4A4E92D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12189E69-2A09-2987-B0C6-FE1BF194A8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2B4CC987-79CB-2331-7EF2-D09C9619A2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D3EF66-2F97-58B7-A582-F27C821EA440}"/>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6" name="Footer Placeholder 5">
            <a:extLst>
              <a:ext uri="{FF2B5EF4-FFF2-40B4-BE49-F238E27FC236}">
                <a16:creationId xmlns:a16="http://schemas.microsoft.com/office/drawing/2014/main" id="{14D47B8F-3D39-5A16-FBF5-75AFC06DC12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76A51B1F-8FE2-1E74-94AA-BF2B054FFC04}"/>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2806807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09DC4-3B6C-44DA-5CE4-8A2A74D703B2}"/>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45E5F03-A2B6-1EEA-ADFE-3041ACF414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47862C6E-4C94-0A32-1533-0211F0739BE2}"/>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5" name="Footer Placeholder 4">
            <a:extLst>
              <a:ext uri="{FF2B5EF4-FFF2-40B4-BE49-F238E27FC236}">
                <a16:creationId xmlns:a16="http://schemas.microsoft.com/office/drawing/2014/main" id="{3B6BE004-3671-7810-F95A-CD8C614C8A12}"/>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3251648-8E3C-9D7B-AC86-7EEB5F031013}"/>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500602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277FAF-A1C8-E180-539F-93669FEC23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2E352C4-DEB7-9DE5-2FDA-5439BB4425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F292F31C-9955-EC4C-BAC5-BC3677A1FFC3}"/>
              </a:ext>
            </a:extLst>
          </p:cNvPr>
          <p:cNvSpPr>
            <a:spLocks noGrp="1"/>
          </p:cNvSpPr>
          <p:nvPr>
            <p:ph type="dt" sz="half" idx="10"/>
          </p:nvPr>
        </p:nvSpPr>
        <p:spPr/>
        <p:txBody>
          <a:bodyPr/>
          <a:lstStyle/>
          <a:p>
            <a:fld id="{7308F95E-67AE-0945-83C2-BF4ED4EB9327}" type="datetimeFigureOut">
              <a:rPr lang="x-none" smtClean="0"/>
              <a:t>15/11/25</a:t>
            </a:fld>
            <a:endParaRPr lang="x-none"/>
          </a:p>
        </p:txBody>
      </p:sp>
      <p:sp>
        <p:nvSpPr>
          <p:cNvPr id="5" name="Footer Placeholder 4">
            <a:extLst>
              <a:ext uri="{FF2B5EF4-FFF2-40B4-BE49-F238E27FC236}">
                <a16:creationId xmlns:a16="http://schemas.microsoft.com/office/drawing/2014/main" id="{DC44911B-B8EC-85CA-1169-33F3D3C6134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D351FE2-53CA-80C7-2181-9A96BAF14EF7}"/>
              </a:ext>
            </a:extLst>
          </p:cNvPr>
          <p:cNvSpPr>
            <a:spLocks noGrp="1"/>
          </p:cNvSpPr>
          <p:nvPr>
            <p:ph type="sldNum" sz="quarter" idx="12"/>
          </p:nvPr>
        </p:nvSpPr>
        <p:spPr/>
        <p:txBody>
          <a:bodyPr/>
          <a:lstStyle/>
          <a:p>
            <a:fld id="{522FF1FE-E604-1745-BAD9-7FC0375355D0}" type="slidenum">
              <a:rPr lang="x-none" smtClean="0"/>
              <a:t>‹#›</a:t>
            </a:fld>
            <a:endParaRPr lang="x-none"/>
          </a:p>
        </p:txBody>
      </p:sp>
    </p:spTree>
    <p:extLst>
      <p:ext uri="{BB962C8B-B14F-4D97-AF65-F5344CB8AC3E}">
        <p14:creationId xmlns:p14="http://schemas.microsoft.com/office/powerpoint/2010/main" val="3229956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48AABB-7189-016F-7997-63A340AA60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FBC38373-5CEB-3DFC-E984-83B4F01ECA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E141879-6566-AF53-B3DF-8F6C48787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08F95E-67AE-0945-83C2-BF4ED4EB9327}" type="datetimeFigureOut">
              <a:rPr lang="x-none" smtClean="0"/>
              <a:t>15/11/25</a:t>
            </a:fld>
            <a:endParaRPr lang="x-none"/>
          </a:p>
        </p:txBody>
      </p:sp>
      <p:sp>
        <p:nvSpPr>
          <p:cNvPr id="5" name="Footer Placeholder 4">
            <a:extLst>
              <a:ext uri="{FF2B5EF4-FFF2-40B4-BE49-F238E27FC236}">
                <a16:creationId xmlns:a16="http://schemas.microsoft.com/office/drawing/2014/main" id="{3EFB52A1-344B-82A3-FC14-C2E1FDE9F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x-none"/>
          </a:p>
        </p:txBody>
      </p:sp>
      <p:sp>
        <p:nvSpPr>
          <p:cNvPr id="6" name="Slide Number Placeholder 5">
            <a:extLst>
              <a:ext uri="{FF2B5EF4-FFF2-40B4-BE49-F238E27FC236}">
                <a16:creationId xmlns:a16="http://schemas.microsoft.com/office/drawing/2014/main" id="{096ABE8B-0E81-7970-10BC-C88090C8AD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2FF1FE-E604-1745-BAD9-7FC0375355D0}" type="slidenum">
              <a:rPr lang="x-none" smtClean="0"/>
              <a:t>‹#›</a:t>
            </a:fld>
            <a:endParaRPr lang="x-none"/>
          </a:p>
        </p:txBody>
      </p:sp>
    </p:spTree>
    <p:extLst>
      <p:ext uri="{BB962C8B-B14F-4D97-AF65-F5344CB8AC3E}">
        <p14:creationId xmlns:p14="http://schemas.microsoft.com/office/powerpoint/2010/main" val="2409138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218092-DAB1-2A5B-FD4F-C8BCD717E1D3}"/>
              </a:ext>
            </a:extLst>
          </p:cNvPr>
          <p:cNvSpPr>
            <a:spLocks noGrp="1"/>
          </p:cNvSpPr>
          <p:nvPr>
            <p:ph type="ctrTitle"/>
          </p:nvPr>
        </p:nvSpPr>
        <p:spPr>
          <a:xfrm>
            <a:off x="838200" y="451381"/>
            <a:ext cx="10512552" cy="4066540"/>
          </a:xfrm>
        </p:spPr>
        <p:txBody>
          <a:bodyPr anchor="b">
            <a:normAutofit/>
          </a:bodyPr>
          <a:lstStyle/>
          <a:p>
            <a:pPr algn="l"/>
            <a:r>
              <a:rPr lang="en-US" sz="6600" b="1" i="1" dirty="0"/>
              <a:t>Stroke Risk Stratification: Identifying Vulnerable Individuals Through Data Visualization</a:t>
            </a:r>
            <a:endParaRPr lang="x-none" sz="6600" dirty="0"/>
          </a:p>
        </p:txBody>
      </p:sp>
      <p:sp>
        <p:nvSpPr>
          <p:cNvPr id="3" name="Subtitle 2">
            <a:extLst>
              <a:ext uri="{FF2B5EF4-FFF2-40B4-BE49-F238E27FC236}">
                <a16:creationId xmlns:a16="http://schemas.microsoft.com/office/drawing/2014/main" id="{42E29C57-E585-14C3-E99A-CDA8146E2EF8}"/>
              </a:ext>
            </a:extLst>
          </p:cNvPr>
          <p:cNvSpPr>
            <a:spLocks noGrp="1"/>
          </p:cNvSpPr>
          <p:nvPr>
            <p:ph type="subTitle" idx="1"/>
          </p:nvPr>
        </p:nvSpPr>
        <p:spPr>
          <a:xfrm>
            <a:off x="838199" y="4983276"/>
            <a:ext cx="10512552" cy="1126680"/>
          </a:xfrm>
        </p:spPr>
        <p:txBody>
          <a:bodyPr>
            <a:normAutofit/>
          </a:bodyPr>
          <a:lstStyle/>
          <a:p>
            <a:pPr algn="l" fontAlgn="base"/>
            <a:r>
              <a:rPr lang="en-US" sz="1700" b="1" i="1" dirty="0"/>
              <a:t>Joshua </a:t>
            </a:r>
            <a:r>
              <a:rPr lang="en-US" sz="1700" b="1" i="1" dirty="0" err="1"/>
              <a:t>Okojie</a:t>
            </a:r>
            <a:endParaRPr lang="en-US" sz="1700" b="1" i="1" dirty="0"/>
          </a:p>
          <a:p>
            <a:pPr algn="l" fontAlgn="base"/>
            <a:r>
              <a:rPr lang="en-US" sz="1700" b="1" i="1" dirty="0"/>
              <a:t>Lindsay Hudson</a:t>
            </a:r>
          </a:p>
          <a:p>
            <a:pPr algn="l" fontAlgn="base"/>
            <a:r>
              <a:rPr lang="en-US" sz="1700" b="1" i="1" dirty="0" err="1"/>
              <a:t>Mariluz</a:t>
            </a:r>
            <a:r>
              <a:rPr lang="en-US" sz="1700" b="1" i="1" dirty="0"/>
              <a:t> Lopez Zamora</a:t>
            </a:r>
          </a:p>
          <a:p>
            <a:pPr algn="l"/>
            <a:endParaRPr lang="x-none" sz="1700" dirty="0"/>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0055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E5578F-3081-F23B-08C9-D4C70086DB4D}"/>
              </a:ext>
            </a:extLst>
          </p:cNvPr>
          <p:cNvSpPr>
            <a:spLocks noGrp="1"/>
          </p:cNvSpPr>
          <p:nvPr>
            <p:ph type="title"/>
          </p:nvPr>
        </p:nvSpPr>
        <p:spPr>
          <a:xfrm>
            <a:off x="630936" y="640080"/>
            <a:ext cx="4818888" cy="1481328"/>
          </a:xfrm>
        </p:spPr>
        <p:txBody>
          <a:bodyPr anchor="b">
            <a:normAutofit/>
          </a:bodyPr>
          <a:lstStyle/>
          <a:p>
            <a:r>
              <a:rPr lang="x-none" sz="5400" dirty="0"/>
              <a:t>Objectives:</a:t>
            </a:r>
          </a:p>
        </p:txBody>
      </p:sp>
      <p:sp>
        <p:nvSpPr>
          <p:cNvPr id="1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7A50D7-8013-0D7C-7727-9A8E8AE291FB}"/>
              </a:ext>
            </a:extLst>
          </p:cNvPr>
          <p:cNvSpPr>
            <a:spLocks noGrp="1"/>
          </p:cNvSpPr>
          <p:nvPr>
            <p:ph idx="1"/>
          </p:nvPr>
        </p:nvSpPr>
        <p:spPr>
          <a:xfrm>
            <a:off x="630936" y="2660904"/>
            <a:ext cx="4011402" cy="3547872"/>
          </a:xfrm>
        </p:spPr>
        <p:txBody>
          <a:bodyPr anchor="t">
            <a:normAutofit fontScale="92500" lnSpcReduction="10000"/>
          </a:bodyPr>
          <a:lstStyle/>
          <a:p>
            <a:pPr>
              <a:lnSpc>
                <a:spcPct val="160000"/>
              </a:lnSpc>
            </a:pPr>
            <a:r>
              <a:rPr lang="en-US" sz="2200" dirty="0"/>
              <a:t> Analyze and visualize the stroke prediction dataset.</a:t>
            </a:r>
          </a:p>
          <a:p>
            <a:pPr>
              <a:lnSpc>
                <a:spcPct val="160000"/>
              </a:lnSpc>
            </a:pPr>
            <a:r>
              <a:rPr lang="en-US" sz="2200" dirty="0"/>
              <a:t> Develop a target model identifying individuals most at risk of suffering a stroke. </a:t>
            </a:r>
          </a:p>
          <a:p>
            <a:pPr>
              <a:lnSpc>
                <a:spcPct val="160000"/>
              </a:lnSpc>
            </a:pPr>
            <a:r>
              <a:rPr lang="en-US" sz="2200" dirty="0"/>
              <a:t>Support: preventive measures and public health campaigns.</a:t>
            </a:r>
            <a:endParaRPr lang="x-none" sz="2200" dirty="0"/>
          </a:p>
        </p:txBody>
      </p:sp>
      <p:pic>
        <p:nvPicPr>
          <p:cNvPr id="5" name="Picture 4" descr="A graph showing a stroke&#10;&#10;AI-generated content may be incorrect.">
            <a:extLst>
              <a:ext uri="{FF2B5EF4-FFF2-40B4-BE49-F238E27FC236}">
                <a16:creationId xmlns:a16="http://schemas.microsoft.com/office/drawing/2014/main" id="{9844F25A-3918-FCF5-9852-E03B8B9DED2E}"/>
              </a:ext>
            </a:extLst>
          </p:cNvPr>
          <p:cNvPicPr>
            <a:picLocks noChangeAspect="1"/>
          </p:cNvPicPr>
          <p:nvPr/>
        </p:nvPicPr>
        <p:blipFill>
          <a:blip r:embed="rId3"/>
          <a:stretch>
            <a:fillRect/>
          </a:stretch>
        </p:blipFill>
        <p:spPr>
          <a:xfrm>
            <a:off x="5273274" y="1484241"/>
            <a:ext cx="6284742" cy="4477881"/>
          </a:xfrm>
          <a:prstGeom prst="rect">
            <a:avLst/>
          </a:prstGeom>
        </p:spPr>
      </p:pic>
    </p:spTree>
    <p:extLst>
      <p:ext uri="{BB962C8B-B14F-4D97-AF65-F5344CB8AC3E}">
        <p14:creationId xmlns:p14="http://schemas.microsoft.com/office/powerpoint/2010/main" val="1157097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AA24CA-0F53-C999-6456-876403AA2FF4}"/>
              </a:ext>
            </a:extLst>
          </p:cNvPr>
          <p:cNvSpPr>
            <a:spLocks noGrp="1"/>
          </p:cNvSpPr>
          <p:nvPr>
            <p:ph type="title"/>
          </p:nvPr>
        </p:nvSpPr>
        <p:spPr>
          <a:xfrm>
            <a:off x="640080" y="329184"/>
            <a:ext cx="6894576" cy="1783080"/>
          </a:xfrm>
        </p:spPr>
        <p:txBody>
          <a:bodyPr anchor="b">
            <a:normAutofit/>
          </a:bodyPr>
          <a:lstStyle/>
          <a:p>
            <a:r>
              <a:rPr lang="en-US" sz="5400" b="1"/>
              <a:t>Problems with the Data:</a:t>
            </a:r>
            <a:endParaRPr lang="x-none" sz="5400"/>
          </a:p>
        </p:txBody>
      </p:sp>
      <p:sp>
        <p:nvSpPr>
          <p:cNvPr id="3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D87BDB-D03B-4010-E22E-90996BB19420}"/>
              </a:ext>
            </a:extLst>
          </p:cNvPr>
          <p:cNvSpPr>
            <a:spLocks noGrp="1"/>
          </p:cNvSpPr>
          <p:nvPr>
            <p:ph idx="1"/>
          </p:nvPr>
        </p:nvSpPr>
        <p:spPr>
          <a:xfrm>
            <a:off x="640080" y="2706624"/>
            <a:ext cx="6894576" cy="3483864"/>
          </a:xfrm>
        </p:spPr>
        <p:txBody>
          <a:bodyPr>
            <a:normAutofit/>
          </a:bodyPr>
          <a:lstStyle/>
          <a:p>
            <a:pPr fontAlgn="base"/>
            <a:r>
              <a:rPr lang="en-US" sz="1500"/>
              <a:t>Imbalance</a:t>
            </a:r>
          </a:p>
          <a:p>
            <a:pPr fontAlgn="base"/>
            <a:r>
              <a:rPr lang="en-US" sz="1500"/>
              <a:t>Confounding factors: pediatric population</a:t>
            </a:r>
          </a:p>
          <a:p>
            <a:pPr marL="0" indent="0" fontAlgn="base">
              <a:buNone/>
            </a:pPr>
            <a:endParaRPr lang="x-none" sz="1500"/>
          </a:p>
          <a:p>
            <a:pPr fontAlgn="base"/>
            <a:r>
              <a:rPr lang="x-none" sz="1500"/>
              <a:t>Lack of context related with data collection method</a:t>
            </a:r>
          </a:p>
          <a:p>
            <a:pPr fontAlgn="base"/>
            <a:r>
              <a:rPr lang="en-US" sz="1500"/>
              <a:t>Variability:  Age, BMI, and Average Glucose Levels</a:t>
            </a:r>
          </a:p>
          <a:p>
            <a:pPr lvl="1" fontAlgn="base"/>
            <a:r>
              <a:rPr lang="en-US" sz="1500"/>
              <a:t>ADA Classification</a:t>
            </a:r>
          </a:p>
          <a:p>
            <a:pPr lvl="1" fontAlgn="base"/>
            <a:r>
              <a:rPr lang="en-US" sz="1500"/>
              <a:t>CDC BMI Classification</a:t>
            </a:r>
          </a:p>
          <a:p>
            <a:pPr lvl="1" fontAlgn="base"/>
            <a:r>
              <a:rPr lang="en-US" sz="1500"/>
              <a:t>Canadian Age Classification</a:t>
            </a:r>
            <a:endParaRPr lang="en-US" sz="1500" b="1"/>
          </a:p>
          <a:p>
            <a:pPr fontAlgn="base"/>
            <a:r>
              <a:rPr lang="en-US" sz="1500"/>
              <a:t>Missing Data:</a:t>
            </a:r>
          </a:p>
          <a:p>
            <a:pPr lvl="1" fontAlgn="base"/>
            <a:r>
              <a:rPr lang="en-US" sz="1500"/>
              <a:t>BMI: NaN values</a:t>
            </a:r>
          </a:p>
          <a:p>
            <a:pPr lvl="1" fontAlgn="base"/>
            <a:r>
              <a:rPr lang="en-US" sz="1500"/>
              <a:t>Smoking status: Unknown </a:t>
            </a:r>
          </a:p>
        </p:txBody>
      </p:sp>
      <p:pic>
        <p:nvPicPr>
          <p:cNvPr id="5" name="Picture 4" descr="A graph showing a number of patients&#10;&#10;AI-generated content may be incorrect.">
            <a:extLst>
              <a:ext uri="{FF2B5EF4-FFF2-40B4-BE49-F238E27FC236}">
                <a16:creationId xmlns:a16="http://schemas.microsoft.com/office/drawing/2014/main" id="{032EAFCC-5B66-EA4C-BB31-C7E40911B583}"/>
              </a:ext>
            </a:extLst>
          </p:cNvPr>
          <p:cNvPicPr>
            <a:picLocks noChangeAspect="1"/>
          </p:cNvPicPr>
          <p:nvPr/>
        </p:nvPicPr>
        <p:blipFill>
          <a:blip r:embed="rId3"/>
          <a:stretch>
            <a:fillRect/>
          </a:stretch>
        </p:blipFill>
        <p:spPr>
          <a:xfrm>
            <a:off x="6568225" y="318167"/>
            <a:ext cx="5245436" cy="3501331"/>
          </a:xfrm>
          <a:prstGeom prst="rect">
            <a:avLst/>
          </a:prstGeom>
        </p:spPr>
      </p:pic>
      <p:pic>
        <p:nvPicPr>
          <p:cNvPr id="7" name="Picture 6" descr="A graph of a normal distribution&#10;&#10;AI-generated content may be incorrect.">
            <a:extLst>
              <a:ext uri="{FF2B5EF4-FFF2-40B4-BE49-F238E27FC236}">
                <a16:creationId xmlns:a16="http://schemas.microsoft.com/office/drawing/2014/main" id="{EA41FE1F-E3FF-32F5-615F-53A852BFF9EA}"/>
              </a:ext>
            </a:extLst>
          </p:cNvPr>
          <p:cNvPicPr>
            <a:picLocks noChangeAspect="1"/>
          </p:cNvPicPr>
          <p:nvPr/>
        </p:nvPicPr>
        <p:blipFill>
          <a:blip r:embed="rId4"/>
          <a:stretch>
            <a:fillRect/>
          </a:stretch>
        </p:blipFill>
        <p:spPr>
          <a:xfrm>
            <a:off x="6751989" y="3819498"/>
            <a:ext cx="4799931" cy="2879958"/>
          </a:xfrm>
          <a:prstGeom prst="rect">
            <a:avLst/>
          </a:prstGeom>
        </p:spPr>
      </p:pic>
    </p:spTree>
    <p:extLst>
      <p:ext uri="{BB962C8B-B14F-4D97-AF65-F5344CB8AC3E}">
        <p14:creationId xmlns:p14="http://schemas.microsoft.com/office/powerpoint/2010/main" val="3719770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BCA320-593D-9BE6-1076-389877855030}"/>
              </a:ext>
            </a:extLst>
          </p:cNvPr>
          <p:cNvSpPr>
            <a:spLocks noGrp="1"/>
          </p:cNvSpPr>
          <p:nvPr>
            <p:ph type="title"/>
          </p:nvPr>
        </p:nvSpPr>
        <p:spPr>
          <a:xfrm>
            <a:off x="640080" y="329184"/>
            <a:ext cx="6894576" cy="1783080"/>
          </a:xfrm>
        </p:spPr>
        <p:txBody>
          <a:bodyPr anchor="b">
            <a:normAutofit/>
          </a:bodyPr>
          <a:lstStyle/>
          <a:p>
            <a:r>
              <a:rPr lang="en-US" sz="5400" b="1"/>
              <a:t>Feature Selection:</a:t>
            </a:r>
            <a:endParaRPr lang="x-none" sz="5400"/>
          </a:p>
        </p:txBody>
      </p:sp>
      <p:sp>
        <p:nvSpPr>
          <p:cNvPr id="2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2071B1-306B-A015-0B09-E4159CCBA126}"/>
              </a:ext>
            </a:extLst>
          </p:cNvPr>
          <p:cNvSpPr>
            <a:spLocks noGrp="1"/>
          </p:cNvSpPr>
          <p:nvPr>
            <p:ph idx="1"/>
          </p:nvPr>
        </p:nvSpPr>
        <p:spPr>
          <a:xfrm>
            <a:off x="640080" y="2706624"/>
            <a:ext cx="6894576" cy="3483864"/>
          </a:xfrm>
        </p:spPr>
        <p:txBody>
          <a:bodyPr>
            <a:normAutofit fontScale="92500" lnSpcReduction="20000"/>
          </a:bodyPr>
          <a:lstStyle/>
          <a:p>
            <a:pPr fontAlgn="base"/>
            <a:r>
              <a:rPr lang="en-US" sz="1800" dirty="0"/>
              <a:t>Excluded Features (Not significant, p-value &gt; 0.5):</a:t>
            </a:r>
          </a:p>
          <a:p>
            <a:pPr lvl="1" fontAlgn="base"/>
            <a:r>
              <a:rPr lang="en-US" sz="1800" dirty="0"/>
              <a:t>Gender</a:t>
            </a:r>
          </a:p>
          <a:p>
            <a:pPr lvl="1" fontAlgn="base"/>
            <a:r>
              <a:rPr lang="en-US" sz="1800" dirty="0"/>
              <a:t>Marital Status (adjusted for age)</a:t>
            </a:r>
          </a:p>
          <a:p>
            <a:pPr lvl="1" fontAlgn="base"/>
            <a:r>
              <a:rPr lang="en-US" sz="1800" dirty="0"/>
              <a:t>Residence Type</a:t>
            </a:r>
            <a:br>
              <a:rPr lang="en-US" sz="1800" dirty="0"/>
            </a:br>
            <a:endParaRPr lang="en-US" sz="1800" dirty="0"/>
          </a:p>
          <a:p>
            <a:pPr fontAlgn="base"/>
            <a:r>
              <a:rPr lang="en-US" sz="1800" dirty="0"/>
              <a:t>Included Features (Significant, p-value &lt; 0.5):</a:t>
            </a:r>
          </a:p>
          <a:p>
            <a:pPr lvl="1" fontAlgn="base"/>
            <a:r>
              <a:rPr lang="en-US" sz="1800" dirty="0"/>
              <a:t>Age</a:t>
            </a:r>
          </a:p>
          <a:p>
            <a:pPr lvl="1" fontAlgn="base"/>
            <a:r>
              <a:rPr lang="en-US" sz="1800" dirty="0"/>
              <a:t>Work Type</a:t>
            </a:r>
          </a:p>
          <a:p>
            <a:pPr lvl="1" fontAlgn="base"/>
            <a:r>
              <a:rPr lang="en-US" sz="1800" dirty="0"/>
              <a:t>Smoking Status</a:t>
            </a:r>
          </a:p>
          <a:p>
            <a:pPr lvl="1" fontAlgn="base"/>
            <a:r>
              <a:rPr lang="en-US" sz="1800" dirty="0"/>
              <a:t>Glucose Level</a:t>
            </a:r>
          </a:p>
          <a:p>
            <a:pPr lvl="1" fontAlgn="base"/>
            <a:r>
              <a:rPr lang="en-US" sz="1800" dirty="0"/>
              <a:t>BMI</a:t>
            </a:r>
          </a:p>
          <a:p>
            <a:pPr lvl="1" fontAlgn="base"/>
            <a:r>
              <a:rPr lang="en-US" sz="1800" dirty="0"/>
              <a:t>Hypertension</a:t>
            </a:r>
          </a:p>
          <a:p>
            <a:pPr lvl="1" fontAlgn="base"/>
            <a:r>
              <a:rPr lang="en-US" sz="1800" dirty="0"/>
              <a:t>Heart Disease</a:t>
            </a:r>
          </a:p>
        </p:txBody>
      </p:sp>
      <p:pic>
        <p:nvPicPr>
          <p:cNvPr id="5" name="Picture 4" descr="A diagram of a patient's heart disease&#10;&#10;AI-generated content may be incorrect.">
            <a:extLst>
              <a:ext uri="{FF2B5EF4-FFF2-40B4-BE49-F238E27FC236}">
                <a16:creationId xmlns:a16="http://schemas.microsoft.com/office/drawing/2014/main" id="{6A3CD9DF-08B5-BA22-CC2F-CD1F0F0951D3}"/>
              </a:ext>
            </a:extLst>
          </p:cNvPr>
          <p:cNvPicPr>
            <a:picLocks noChangeAspect="1"/>
          </p:cNvPicPr>
          <p:nvPr/>
        </p:nvPicPr>
        <p:blipFill>
          <a:blip r:embed="rId3"/>
          <a:stretch>
            <a:fillRect/>
          </a:stretch>
        </p:blipFill>
        <p:spPr>
          <a:xfrm>
            <a:off x="6632621" y="262303"/>
            <a:ext cx="4504806" cy="3637632"/>
          </a:xfrm>
          <a:prstGeom prst="rect">
            <a:avLst/>
          </a:prstGeom>
        </p:spPr>
      </p:pic>
      <p:pic>
        <p:nvPicPr>
          <p:cNvPr id="7" name="Picture 6" descr="A graph with red and white stripes&#10;&#10;AI-generated content may be incorrect.">
            <a:extLst>
              <a:ext uri="{FF2B5EF4-FFF2-40B4-BE49-F238E27FC236}">
                <a16:creationId xmlns:a16="http://schemas.microsoft.com/office/drawing/2014/main" id="{BB8E7E4F-1C0E-A4CE-9B5F-D47303E407AA}"/>
              </a:ext>
            </a:extLst>
          </p:cNvPr>
          <p:cNvPicPr>
            <a:picLocks noChangeAspect="1"/>
          </p:cNvPicPr>
          <p:nvPr/>
        </p:nvPicPr>
        <p:blipFill>
          <a:blip r:embed="rId4"/>
          <a:stretch>
            <a:fillRect/>
          </a:stretch>
        </p:blipFill>
        <p:spPr>
          <a:xfrm>
            <a:off x="4647205" y="4224529"/>
            <a:ext cx="7131327" cy="2371168"/>
          </a:xfrm>
          <a:prstGeom prst="rect">
            <a:avLst/>
          </a:prstGeom>
        </p:spPr>
      </p:pic>
    </p:spTree>
    <p:extLst>
      <p:ext uri="{BB962C8B-B14F-4D97-AF65-F5344CB8AC3E}">
        <p14:creationId xmlns:p14="http://schemas.microsoft.com/office/powerpoint/2010/main" val="3238530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76219-792B-FAB2-A6B9-6072A7663692}"/>
              </a:ext>
            </a:extLst>
          </p:cNvPr>
          <p:cNvSpPr>
            <a:spLocks noGrp="1"/>
          </p:cNvSpPr>
          <p:nvPr>
            <p:ph type="title"/>
          </p:nvPr>
        </p:nvSpPr>
        <p:spPr>
          <a:xfrm>
            <a:off x="1676400" y="11430"/>
            <a:ext cx="10515600" cy="1325563"/>
          </a:xfrm>
        </p:spPr>
        <p:txBody>
          <a:bodyPr/>
          <a:lstStyle/>
          <a:p>
            <a:r>
              <a:rPr lang="en-US" b="1" dirty="0"/>
              <a:t>Model</a:t>
            </a:r>
            <a:endParaRPr lang="x-none" dirty="0"/>
          </a:p>
        </p:txBody>
      </p:sp>
      <p:pic>
        <p:nvPicPr>
          <p:cNvPr id="5" name="Content Placeholder 4" descr="A graph of a bar graph&#10;&#10;AI-generated content may be incorrect.">
            <a:extLst>
              <a:ext uri="{FF2B5EF4-FFF2-40B4-BE49-F238E27FC236}">
                <a16:creationId xmlns:a16="http://schemas.microsoft.com/office/drawing/2014/main" id="{C5570F6E-353C-6381-3046-1216D8D5F243}"/>
              </a:ext>
            </a:extLst>
          </p:cNvPr>
          <p:cNvPicPr>
            <a:picLocks noGrp="1" noChangeAspect="1"/>
          </p:cNvPicPr>
          <p:nvPr>
            <p:ph idx="1"/>
          </p:nvPr>
        </p:nvPicPr>
        <p:blipFill>
          <a:blip r:embed="rId3"/>
          <a:stretch>
            <a:fillRect/>
          </a:stretch>
        </p:blipFill>
        <p:spPr>
          <a:xfrm>
            <a:off x="5466916" y="781562"/>
            <a:ext cx="6527141" cy="5811838"/>
          </a:xfrm>
        </p:spPr>
      </p:pic>
      <p:sp>
        <p:nvSpPr>
          <p:cNvPr id="4" name="TextBox 3"/>
          <p:cNvSpPr txBox="1"/>
          <p:nvPr/>
        </p:nvSpPr>
        <p:spPr>
          <a:xfrm>
            <a:off x="291905" y="1179054"/>
            <a:ext cx="4419600" cy="646331"/>
          </a:xfrm>
          <a:prstGeom prst="rect">
            <a:avLst/>
          </a:prstGeom>
          <a:noFill/>
        </p:spPr>
        <p:txBody>
          <a:bodyPr wrap="square" rtlCol="0">
            <a:spAutoFit/>
          </a:bodyPr>
          <a:lstStyle/>
          <a:p>
            <a:pPr fontAlgn="base"/>
            <a:endParaRPr lang="en-US" dirty="0"/>
          </a:p>
          <a:p>
            <a:pPr fontAlgn="base"/>
            <a:endParaRPr lang="en-US" dirty="0"/>
          </a:p>
        </p:txBody>
      </p:sp>
      <p:sp>
        <p:nvSpPr>
          <p:cNvPr id="10" name="TextBox 9"/>
          <p:cNvSpPr txBox="1"/>
          <p:nvPr/>
        </p:nvSpPr>
        <p:spPr>
          <a:xfrm>
            <a:off x="263220" y="1179054"/>
            <a:ext cx="5005753" cy="5509200"/>
          </a:xfrm>
          <a:prstGeom prst="rect">
            <a:avLst/>
          </a:prstGeom>
          <a:noFill/>
        </p:spPr>
        <p:txBody>
          <a:bodyPr wrap="square" rtlCol="0">
            <a:spAutoFit/>
          </a:bodyPr>
          <a:lstStyle/>
          <a:p>
            <a:pPr marL="285750" indent="-285750">
              <a:buFont typeface="Arial" panose="020B0604020202020204" pitchFamily="34" charset="0"/>
              <a:buChar char="•"/>
            </a:pPr>
            <a:r>
              <a:rPr lang="en-US" sz="1600" dirty="0"/>
              <a:t>Recall is consistently around 0.80, the model captures most true positives.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Precision is lower at 0.71, which suggests some false positives.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F1 score is about 0.75, relatively balanced but skews towards recall. This is good in healthcare setting.</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Accuracy is around 0.74, fairly good.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Overall, the model is strong at finding positives, but there is a trade‑off with precision.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healthcare, being transparent about the range is critical and can build trust — stakeholders want to see variability.</a:t>
            </a:r>
          </a:p>
        </p:txBody>
      </p:sp>
    </p:spTree>
    <p:extLst>
      <p:ext uri="{BB962C8B-B14F-4D97-AF65-F5344CB8AC3E}">
        <p14:creationId xmlns:p14="http://schemas.microsoft.com/office/powerpoint/2010/main" val="1420114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0A656F-8080-D48A-160D-DA40662CDAF4}"/>
              </a:ext>
            </a:extLst>
          </p:cNvPr>
          <p:cNvSpPr>
            <a:spLocks noGrp="1"/>
          </p:cNvSpPr>
          <p:nvPr>
            <p:ph type="title"/>
          </p:nvPr>
        </p:nvSpPr>
        <p:spPr>
          <a:xfrm>
            <a:off x="572493" y="238539"/>
            <a:ext cx="11018520" cy="1434415"/>
          </a:xfrm>
        </p:spPr>
        <p:txBody>
          <a:bodyPr anchor="b">
            <a:normAutofit/>
          </a:bodyPr>
          <a:lstStyle/>
          <a:p>
            <a:r>
              <a:rPr lang="x-none" sz="5400"/>
              <a:t>Team Specific Recomendations</a:t>
            </a:r>
          </a:p>
        </p:txBody>
      </p:sp>
      <p:sp>
        <p:nvSpPr>
          <p:cNvPr id="3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BC33C5-4D1A-87D9-8091-27FD3E2512C0}"/>
              </a:ext>
            </a:extLst>
          </p:cNvPr>
          <p:cNvSpPr>
            <a:spLocks noGrp="1"/>
          </p:cNvSpPr>
          <p:nvPr>
            <p:ph idx="1"/>
          </p:nvPr>
        </p:nvSpPr>
        <p:spPr>
          <a:xfrm>
            <a:off x="572493" y="2071316"/>
            <a:ext cx="4399557" cy="4305786"/>
          </a:xfrm>
        </p:spPr>
        <p:txBody>
          <a:bodyPr anchor="t">
            <a:normAutofit fontScale="92500" lnSpcReduction="10000"/>
          </a:bodyPr>
          <a:lstStyle/>
          <a:p>
            <a:pPr>
              <a:lnSpc>
                <a:spcPct val="150000"/>
              </a:lnSpc>
            </a:pPr>
            <a:r>
              <a:rPr lang="x-none" sz="2000"/>
              <a:t>The target population is:</a:t>
            </a:r>
          </a:p>
          <a:p>
            <a:pPr lvl="1">
              <a:lnSpc>
                <a:spcPct val="150000"/>
              </a:lnSpc>
            </a:pPr>
            <a:r>
              <a:rPr lang="x-none" sz="2000"/>
              <a:t>Individuals over 57 years old, with comorbidities as heard disease, hta,</a:t>
            </a:r>
            <a:r>
              <a:rPr lang="es-419" sz="2000" dirty="0"/>
              <a:t> </a:t>
            </a:r>
            <a:r>
              <a:rPr lang="x-none" sz="2000"/>
              <a:t>and pre-DM or DM . </a:t>
            </a:r>
            <a:r>
              <a:rPr lang="en-US" sz="2000" dirty="0"/>
              <a:t>A</a:t>
            </a:r>
            <a:r>
              <a:rPr lang="x-none" sz="2000"/>
              <a:t>nd Risk factors as overweight</a:t>
            </a:r>
            <a:r>
              <a:rPr lang="es-419" sz="2000" dirty="0"/>
              <a:t>,</a:t>
            </a:r>
            <a:r>
              <a:rPr lang="x-none" sz="2000"/>
              <a:t> formerly smoked</a:t>
            </a:r>
            <a:r>
              <a:rPr lang="es-419" sz="2000" dirty="0"/>
              <a:t>  or smokes</a:t>
            </a:r>
            <a:r>
              <a:rPr lang="x-none" sz="2000"/>
              <a:t>.</a:t>
            </a:r>
          </a:p>
          <a:p>
            <a:pPr lvl="1">
              <a:lnSpc>
                <a:spcPct val="150000"/>
              </a:lnSpc>
            </a:pPr>
            <a:r>
              <a:rPr lang="x-none" sz="2000"/>
              <a:t>The analyst suggest healthy weight, healthy glucose average , and never smoke as protective factors.</a:t>
            </a:r>
          </a:p>
        </p:txBody>
      </p:sp>
      <p:pic>
        <p:nvPicPr>
          <p:cNvPr id="5" name="Picture 4" descr="A graph showing different colored circles&#10;&#10;AI-generated content may be incorrect.">
            <a:extLst>
              <a:ext uri="{FF2B5EF4-FFF2-40B4-BE49-F238E27FC236}">
                <a16:creationId xmlns:a16="http://schemas.microsoft.com/office/drawing/2014/main" id="{2AE301AA-8B28-CBCC-ADAE-115819468167}"/>
              </a:ext>
            </a:extLst>
          </p:cNvPr>
          <p:cNvPicPr>
            <a:picLocks noChangeAspect="1"/>
          </p:cNvPicPr>
          <p:nvPr/>
        </p:nvPicPr>
        <p:blipFill>
          <a:blip r:embed="rId3"/>
          <a:srcRect t="-2681" r="37330" b="-304"/>
          <a:stretch>
            <a:fillRect/>
          </a:stretch>
        </p:blipFill>
        <p:spPr>
          <a:xfrm>
            <a:off x="5544543" y="2093976"/>
            <a:ext cx="6458567" cy="4218732"/>
          </a:xfrm>
          <a:prstGeom prst="rect">
            <a:avLst/>
          </a:prstGeom>
        </p:spPr>
      </p:pic>
    </p:spTree>
    <p:extLst>
      <p:ext uri="{BB962C8B-B14F-4D97-AF65-F5344CB8AC3E}">
        <p14:creationId xmlns:p14="http://schemas.microsoft.com/office/powerpoint/2010/main" val="2909557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ACF1ED-CB41-81B4-3BA4-C7FE869DDCF4}"/>
              </a:ext>
            </a:extLst>
          </p:cNvPr>
          <p:cNvSpPr>
            <a:spLocks noGrp="1"/>
          </p:cNvSpPr>
          <p:nvPr>
            <p:ph type="title"/>
          </p:nvPr>
        </p:nvSpPr>
        <p:spPr>
          <a:xfrm>
            <a:off x="630936" y="639520"/>
            <a:ext cx="3429000" cy="1719072"/>
          </a:xfrm>
        </p:spPr>
        <p:txBody>
          <a:bodyPr anchor="b">
            <a:normAutofit/>
          </a:bodyPr>
          <a:lstStyle/>
          <a:p>
            <a:r>
              <a:rPr lang="en-US" sz="5400" b="1"/>
              <a:t>Key Data Insights:</a:t>
            </a:r>
            <a:endParaRPr lang="x-none" sz="540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0FB0440-F9A3-4AAD-D8F9-D3C673735D64}"/>
              </a:ext>
            </a:extLst>
          </p:cNvPr>
          <p:cNvSpPr>
            <a:spLocks noGrp="1"/>
          </p:cNvSpPr>
          <p:nvPr>
            <p:ph idx="1"/>
          </p:nvPr>
        </p:nvSpPr>
        <p:spPr>
          <a:xfrm>
            <a:off x="630935" y="2807207"/>
            <a:ext cx="3631971" cy="3672765"/>
          </a:xfrm>
        </p:spPr>
        <p:txBody>
          <a:bodyPr anchor="t">
            <a:normAutofit/>
          </a:bodyPr>
          <a:lstStyle/>
          <a:p>
            <a:pPr fontAlgn="base">
              <a:lnSpc>
                <a:spcPct val="150000"/>
              </a:lnSpc>
            </a:pPr>
            <a:r>
              <a:rPr lang="en-US" sz="1800" dirty="0"/>
              <a:t>Proper categorization of the dataset : The Key in analysis and model development.</a:t>
            </a:r>
          </a:p>
          <a:p>
            <a:pPr fontAlgn="base">
              <a:lnSpc>
                <a:spcPct val="150000"/>
              </a:lnSpc>
            </a:pPr>
            <a:r>
              <a:rPr lang="en-US" sz="1800" dirty="0"/>
              <a:t>Health data analysis: healthy individuals vs disease group</a:t>
            </a:r>
          </a:p>
          <a:p>
            <a:pPr fontAlgn="base">
              <a:lnSpc>
                <a:spcPct val="150000"/>
              </a:lnSpc>
            </a:pPr>
            <a:r>
              <a:rPr lang="en-US" sz="1800" dirty="0"/>
              <a:t>Correlation is not causation: Adjusted per age</a:t>
            </a:r>
          </a:p>
        </p:txBody>
      </p:sp>
      <p:pic>
        <p:nvPicPr>
          <p:cNvPr id="5" name="Picture 4" descr="A graph showing blood sugar levels&#10;&#10;AI-generated content may be incorrect.">
            <a:extLst>
              <a:ext uri="{FF2B5EF4-FFF2-40B4-BE49-F238E27FC236}">
                <a16:creationId xmlns:a16="http://schemas.microsoft.com/office/drawing/2014/main" id="{E27E31FB-A0E8-F350-F094-03D5212EC317}"/>
              </a:ext>
            </a:extLst>
          </p:cNvPr>
          <p:cNvPicPr>
            <a:picLocks noChangeAspect="1"/>
          </p:cNvPicPr>
          <p:nvPr/>
        </p:nvPicPr>
        <p:blipFill>
          <a:blip r:embed="rId3"/>
          <a:stretch>
            <a:fillRect/>
          </a:stretch>
        </p:blipFill>
        <p:spPr>
          <a:xfrm>
            <a:off x="5034746" y="216836"/>
            <a:ext cx="6588383" cy="3047127"/>
          </a:xfrm>
          <a:prstGeom prst="rect">
            <a:avLst/>
          </a:prstGeom>
        </p:spPr>
      </p:pic>
      <p:pic>
        <p:nvPicPr>
          <p:cNvPr id="6" name="Picture 5" descr="A graph of a graph with a number of red squares&#10;&#10;AI-generated content may be incorrect.">
            <a:extLst>
              <a:ext uri="{FF2B5EF4-FFF2-40B4-BE49-F238E27FC236}">
                <a16:creationId xmlns:a16="http://schemas.microsoft.com/office/drawing/2014/main" id="{F8B1184F-90BF-5C04-8C4D-2CFBE754E681}"/>
              </a:ext>
            </a:extLst>
          </p:cNvPr>
          <p:cNvPicPr>
            <a:picLocks noChangeAspect="1"/>
          </p:cNvPicPr>
          <p:nvPr/>
        </p:nvPicPr>
        <p:blipFill>
          <a:blip r:embed="rId4"/>
          <a:stretch>
            <a:fillRect/>
          </a:stretch>
        </p:blipFill>
        <p:spPr>
          <a:xfrm>
            <a:off x="4262906" y="3789526"/>
            <a:ext cx="7772400" cy="2690446"/>
          </a:xfrm>
          <a:prstGeom prst="rect">
            <a:avLst/>
          </a:prstGeom>
        </p:spPr>
      </p:pic>
    </p:spTree>
    <p:extLst>
      <p:ext uri="{BB962C8B-B14F-4D97-AF65-F5344CB8AC3E}">
        <p14:creationId xmlns:p14="http://schemas.microsoft.com/office/powerpoint/2010/main" val="2171504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3860F-1218-248F-AC0C-A6E3876165E1}"/>
              </a:ext>
            </a:extLst>
          </p:cNvPr>
          <p:cNvSpPr>
            <a:spLocks noGrp="1"/>
          </p:cNvSpPr>
          <p:nvPr>
            <p:ph type="title"/>
          </p:nvPr>
        </p:nvSpPr>
        <p:spPr>
          <a:xfrm>
            <a:off x="838200" y="365125"/>
            <a:ext cx="10515600" cy="1325563"/>
          </a:xfrm>
        </p:spPr>
        <p:txBody>
          <a:bodyPr>
            <a:normAutofit/>
          </a:bodyPr>
          <a:lstStyle/>
          <a:p>
            <a:r>
              <a:rPr lang="en-GB" sz="5400"/>
              <a:t>Conclusion &amp; Next Steps</a:t>
            </a:r>
            <a:endParaRPr lang="x-none"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FFA3F9-244E-A961-6207-212B5B05D0AD}"/>
              </a:ext>
            </a:extLst>
          </p:cNvPr>
          <p:cNvSpPr>
            <a:spLocks noGrp="1"/>
          </p:cNvSpPr>
          <p:nvPr>
            <p:ph idx="1"/>
          </p:nvPr>
        </p:nvSpPr>
        <p:spPr>
          <a:xfrm>
            <a:off x="838200" y="1929384"/>
            <a:ext cx="10515600" cy="4251960"/>
          </a:xfrm>
        </p:spPr>
        <p:txBody>
          <a:bodyPr>
            <a:normAutofit fontScale="92500" lnSpcReduction="10000"/>
          </a:bodyPr>
          <a:lstStyle/>
          <a:p>
            <a:r>
              <a:rPr lang="en-GB" sz="2200" dirty="0">
                <a:latin typeface="Lato"/>
                <a:ea typeface="Lato"/>
                <a:cs typeface="Lato"/>
                <a:sym typeface="Lato"/>
              </a:rPr>
              <a:t>Feature selection was the key in our data-driven approach to make an accurate model. </a:t>
            </a:r>
          </a:p>
          <a:p>
            <a:endParaRPr lang="en-GB" sz="2200" dirty="0">
              <a:latin typeface="Lato"/>
              <a:ea typeface="Lato"/>
              <a:cs typeface="Lato"/>
              <a:sym typeface="Lato"/>
            </a:endParaRPr>
          </a:p>
          <a:p>
            <a:r>
              <a:rPr lang="en-GB" sz="2200" dirty="0">
                <a:latin typeface="Lato"/>
                <a:ea typeface="Lato"/>
                <a:cs typeface="Lato"/>
                <a:sym typeface="Lato"/>
              </a:rPr>
              <a:t> Our next steps in refining our model would be:</a:t>
            </a:r>
          </a:p>
          <a:p>
            <a:endParaRPr lang="en-GB" sz="2200" dirty="0">
              <a:latin typeface="Lato"/>
              <a:ea typeface="Lato"/>
              <a:cs typeface="Lato"/>
              <a:sym typeface="Lato"/>
            </a:endParaRPr>
          </a:p>
          <a:p>
            <a:pPr lvl="1"/>
            <a:r>
              <a:rPr lang="en-GB" sz="2200" dirty="0">
                <a:latin typeface="Lato"/>
                <a:ea typeface="Lato"/>
                <a:cs typeface="Lato"/>
                <a:sym typeface="Lato"/>
              </a:rPr>
              <a:t>Apply a larger stroke population dataset combined with greater data collection context, and additional relevant features.</a:t>
            </a:r>
          </a:p>
          <a:p>
            <a:pPr lvl="1"/>
            <a:endParaRPr lang="en-GB" sz="2200" dirty="0">
              <a:latin typeface="Lato"/>
              <a:ea typeface="Lato"/>
              <a:cs typeface="Lato"/>
              <a:sym typeface="Lato"/>
            </a:endParaRPr>
          </a:p>
          <a:p>
            <a:pPr lvl="1"/>
            <a:r>
              <a:rPr lang="en-GB" sz="2200" dirty="0">
                <a:latin typeface="Lato"/>
                <a:ea typeface="Lato"/>
                <a:cs typeface="Lato"/>
                <a:sym typeface="Lato"/>
              </a:rPr>
              <a:t>Leverage SHAP analysis to understand what is driving predictions.</a:t>
            </a:r>
          </a:p>
          <a:p>
            <a:pPr lvl="1"/>
            <a:endParaRPr lang="en-GB" sz="2200" dirty="0">
              <a:latin typeface="Lato"/>
              <a:ea typeface="Lato"/>
              <a:cs typeface="Lato"/>
              <a:sym typeface="Lato"/>
            </a:endParaRPr>
          </a:p>
          <a:p>
            <a:pPr lvl="1"/>
            <a:r>
              <a:rPr lang="en-GB" sz="2200" dirty="0">
                <a:latin typeface="Lato"/>
                <a:ea typeface="Lato"/>
                <a:cs typeface="Lato"/>
                <a:sym typeface="Lato"/>
              </a:rPr>
              <a:t>Consider tracking performance across various demographic segmentations and audit model for potential biases.</a:t>
            </a:r>
          </a:p>
          <a:p>
            <a:pPr lvl="1"/>
            <a:endParaRPr lang="en-GB" sz="2200" dirty="0">
              <a:latin typeface="Lato"/>
              <a:ea typeface="Lato"/>
              <a:cs typeface="Lato"/>
              <a:sym typeface="Lato"/>
            </a:endParaRPr>
          </a:p>
          <a:p>
            <a:pPr lvl="1"/>
            <a:r>
              <a:rPr lang="en-GB" sz="2200" dirty="0">
                <a:latin typeface="Lato"/>
                <a:ea typeface="Lato"/>
                <a:cs typeface="Lato"/>
                <a:sym typeface="Lato"/>
              </a:rPr>
              <a:t>Validate the model on external clinical stroke datasets.</a:t>
            </a:r>
          </a:p>
        </p:txBody>
      </p:sp>
    </p:spTree>
    <p:extLst>
      <p:ext uri="{BB962C8B-B14F-4D97-AF65-F5344CB8AC3E}">
        <p14:creationId xmlns:p14="http://schemas.microsoft.com/office/powerpoint/2010/main" val="1303957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ADD17-A482-64F3-1CD7-EB835A479015}"/>
              </a:ext>
            </a:extLst>
          </p:cNvPr>
          <p:cNvSpPr>
            <a:spLocks noGrp="1"/>
          </p:cNvSpPr>
          <p:nvPr>
            <p:ph type="title"/>
          </p:nvPr>
        </p:nvSpPr>
        <p:spPr>
          <a:xfrm>
            <a:off x="1171074" y="1396686"/>
            <a:ext cx="3240506" cy="4064628"/>
          </a:xfrm>
        </p:spPr>
        <p:txBody>
          <a:bodyPr>
            <a:normAutofit/>
          </a:bodyPr>
          <a:lstStyle/>
          <a:p>
            <a:r>
              <a:rPr lang="x-none">
                <a:solidFill>
                  <a:srgbClr val="FFFFFF"/>
                </a:solidFill>
              </a:rPr>
              <a:t>Thank You</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DE887A-7471-DF5C-CF9D-7C12ADBAE3B3}"/>
              </a:ext>
            </a:extLst>
          </p:cNvPr>
          <p:cNvSpPr>
            <a:spLocks noGrp="1"/>
          </p:cNvSpPr>
          <p:nvPr>
            <p:ph idx="1"/>
          </p:nvPr>
        </p:nvSpPr>
        <p:spPr>
          <a:xfrm>
            <a:off x="5246371" y="1291591"/>
            <a:ext cx="6457950" cy="4169723"/>
          </a:xfrm>
        </p:spPr>
        <p:txBody>
          <a:bodyPr>
            <a:normAutofit/>
          </a:bodyPr>
          <a:lstStyle/>
          <a:p>
            <a:pPr marL="0" indent="0">
              <a:buNone/>
            </a:pPr>
            <a:endParaRPr lang="x-none" dirty="0"/>
          </a:p>
          <a:p>
            <a:pPr marL="0" indent="0">
              <a:buNone/>
            </a:pPr>
            <a:r>
              <a:rPr lang="x-none" dirty="0"/>
              <a:t>F</a:t>
            </a:r>
            <a:r>
              <a:rPr lang="en-US" dirty="0"/>
              <a:t>eel</a:t>
            </a:r>
            <a:r>
              <a:rPr lang="x-none" dirty="0"/>
              <a:t> </a:t>
            </a:r>
            <a:r>
              <a:rPr lang="en-US" dirty="0"/>
              <a:t>free</a:t>
            </a:r>
            <a:r>
              <a:rPr lang="x-none" dirty="0"/>
              <a:t> to write us your questions and </a:t>
            </a:r>
          </a:p>
          <a:p>
            <a:pPr marL="0" indent="0">
              <a:buNone/>
            </a:pPr>
            <a:r>
              <a:rPr lang="x-none" dirty="0"/>
              <a:t>Lets conect by LikedIn!</a:t>
            </a:r>
          </a:p>
          <a:p>
            <a:pPr marL="0" indent="0" fontAlgn="base">
              <a:buNone/>
            </a:pPr>
            <a:endParaRPr lang="en-US" dirty="0"/>
          </a:p>
          <a:p>
            <a:pPr marL="0" indent="0" fontAlgn="base">
              <a:buNone/>
            </a:pPr>
            <a:r>
              <a:rPr lang="en-US" dirty="0" err="1"/>
              <a:t>Mariluz</a:t>
            </a:r>
            <a:r>
              <a:rPr lang="en-US" dirty="0"/>
              <a:t> Lopez Zamora</a:t>
            </a:r>
          </a:p>
          <a:p>
            <a:pPr marL="0" indent="0" fontAlgn="base">
              <a:buNone/>
            </a:pPr>
            <a:r>
              <a:rPr lang="en-US" sz="2100" dirty="0" err="1">
                <a:solidFill>
                  <a:schemeClr val="tx2">
                    <a:lumMod val="75000"/>
                    <a:lumOff val="25000"/>
                  </a:schemeClr>
                </a:solidFill>
              </a:rPr>
              <a:t>www.linkedin.com</a:t>
            </a:r>
            <a:r>
              <a:rPr lang="en-US" sz="2100" dirty="0">
                <a:solidFill>
                  <a:schemeClr val="tx2">
                    <a:lumMod val="75000"/>
                    <a:lumOff val="25000"/>
                  </a:schemeClr>
                </a:solidFill>
              </a:rPr>
              <a:t>/in/</a:t>
            </a:r>
            <a:r>
              <a:rPr lang="en-US" sz="2100" dirty="0" err="1">
                <a:solidFill>
                  <a:schemeClr val="tx2">
                    <a:lumMod val="75000"/>
                    <a:lumOff val="25000"/>
                  </a:schemeClr>
                </a:solidFill>
              </a:rPr>
              <a:t>mlopezza</a:t>
            </a:r>
            <a:endParaRPr lang="en-US" sz="2100" dirty="0">
              <a:solidFill>
                <a:schemeClr val="tx2">
                  <a:lumMod val="75000"/>
                  <a:lumOff val="25000"/>
                </a:schemeClr>
              </a:solidFill>
            </a:endParaRPr>
          </a:p>
          <a:p>
            <a:pPr marL="0" indent="0" fontAlgn="base">
              <a:buNone/>
            </a:pPr>
            <a:r>
              <a:rPr lang="en-US" dirty="0"/>
              <a:t>Joshua Okojie</a:t>
            </a:r>
          </a:p>
          <a:p>
            <a:pPr marL="0" indent="0" fontAlgn="base">
              <a:buNone/>
            </a:pPr>
            <a:r>
              <a:rPr lang="en-US" sz="2100" dirty="0">
                <a:solidFill>
                  <a:schemeClr val="tx2">
                    <a:lumMod val="75000"/>
                    <a:lumOff val="25000"/>
                  </a:schemeClr>
                </a:solidFill>
              </a:rPr>
              <a:t>www.linkedin.com/in/abayomiokojie/</a:t>
            </a:r>
          </a:p>
          <a:p>
            <a:pPr marL="0" indent="0">
              <a:buNone/>
            </a:pPr>
            <a:endParaRPr lang="en-US" dirty="0"/>
          </a:p>
        </p:txBody>
      </p:sp>
    </p:spTree>
    <p:extLst>
      <p:ext uri="{BB962C8B-B14F-4D97-AF65-F5344CB8AC3E}">
        <p14:creationId xmlns:p14="http://schemas.microsoft.com/office/powerpoint/2010/main" val="166767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TotalTime>
  <Words>829</Words>
  <Application>Microsoft Macintosh PowerPoint</Application>
  <PresentationFormat>Widescreen</PresentationFormat>
  <Paragraphs>120</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Lato</vt:lpstr>
      <vt:lpstr>Office Theme</vt:lpstr>
      <vt:lpstr>Stroke Risk Stratification: Identifying Vulnerable Individuals Through Data Visualization</vt:lpstr>
      <vt:lpstr>Objectives:</vt:lpstr>
      <vt:lpstr>Problems with the Data:</vt:lpstr>
      <vt:lpstr>Feature Selection:</vt:lpstr>
      <vt:lpstr>Model</vt:lpstr>
      <vt:lpstr>Team Specific Recomendations</vt:lpstr>
      <vt:lpstr>Key Data Insights:</vt:lpstr>
      <vt:lpstr>Conclusion &amp;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Stroke Risk Stratification: Identifying Vulnerable Individuals Through Data Visualization</dc:title>
  <dc:creator>jenniffer carolina Triana Martinez</dc:creator>
  <cp:lastModifiedBy>jenniffer carolina Triana Martinez</cp:lastModifiedBy>
  <cp:revision>17</cp:revision>
  <dcterms:created xsi:type="dcterms:W3CDTF">2025-11-15T00:00:52Z</dcterms:created>
  <dcterms:modified xsi:type="dcterms:W3CDTF">2025-11-15T14:55:46Z</dcterms:modified>
</cp:coreProperties>
</file>